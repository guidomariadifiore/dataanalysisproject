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542"/>
          </a:solidFill>
          <a:ln>
            <a:solidFill>
              <a:srgbClr val="102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Data Analytics &amp; Predictive Modeling</a:t>
            </a:r>
          </a:p>
          <a:p>
            <a:pPr>
              <a:defRPr sz="2200">
                <a:solidFill>
                  <a:srgbClr val="B4D7EB"/>
                </a:solidFill>
              </a:defRPr>
            </a:pPr>
            <a:r>
              <a:t>Flue Gas Emissions (CO, NOx) and Energy Yield in Gas Turbines</a:t>
            </a:r>
          </a:p>
          <a:p>
            <a:br/>
            <a:pPr>
              <a:defRPr sz="1400">
                <a:solidFill>
                  <a:srgbClr val="C8D7E6"/>
                </a:solidFill>
              </a:defRPr>
            </a:pPr>
            <a:r>
              <a:t>Course: Data Analytics (and Data Driven Decision) — University of L'Aquila</a:t>
            </a:r>
            <a:br/>
            <a:r>
              <a:t>Based on Multi-Year Hourly Telemetry (36,733 records) and Course Methodologies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02542"/>
          </a:solidFill>
          <a:ln>
            <a:solidFill>
              <a:srgbClr val="102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ctr">
              <a:defRPr sz="1100" b="1">
                <a:solidFill>
                  <a:srgbClr val="B4D7EB"/>
                </a:solidFill>
              </a:defRPr>
            </a:pPr>
            <a:r>
              <a:t>METHODOLOGICAL ROADMAP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Project Workflow &amp; Guidelines Structure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212080" cy="1097280"/>
          </a:xfrm>
          <a:prstGeom prst="roundRect">
            <a:avLst/>
          </a:prstGeom>
          <a:solidFill>
            <a:srgbClr val="F8F9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400" b="1">
                <a:solidFill>
                  <a:srgbClr val="102542"/>
                </a:solidFill>
              </a:defRPr>
            </a:pPr>
            <a:r>
              <a:t>1. Description of Dataset</a:t>
            </a:r>
          </a:p>
          <a:p>
            <a:pPr>
              <a:defRPr sz="1100">
                <a:solidFill>
                  <a:srgbClr val="212529"/>
                </a:solidFill>
              </a:defRPr>
            </a:pPr>
            <a:r>
              <a:t>Data origin, 11 sensor variables, 36,733 hourly observations, train/test split protocol.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606040"/>
            <a:ext cx="5212080" cy="1097280"/>
          </a:xfrm>
          <a:prstGeom prst="roundRect">
            <a:avLst/>
          </a:prstGeom>
          <a:solidFill>
            <a:srgbClr val="F8F9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400" b="1">
                <a:solidFill>
                  <a:srgbClr val="102542"/>
                </a:solidFill>
              </a:defRPr>
            </a:pPr>
            <a:r>
              <a:t>2. Data Cleaning &amp; Validation</a:t>
            </a:r>
          </a:p>
          <a:p>
            <a:pPr>
              <a:defRPr sz="1100">
                <a:solidFill>
                  <a:srgbClr val="212529"/>
                </a:solidFill>
              </a:defRPr>
            </a:pPr>
            <a:r>
              <a:t>Verification of missing values, range validation, physical plausibility check, standard scaling.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840480"/>
            <a:ext cx="5212080" cy="1097280"/>
          </a:xfrm>
          <a:prstGeom prst="roundRect">
            <a:avLst/>
          </a:prstGeom>
          <a:solidFill>
            <a:srgbClr val="F8F9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400" b="1">
                <a:solidFill>
                  <a:srgbClr val="102542"/>
                </a:solidFill>
              </a:defRPr>
            </a:pPr>
            <a:r>
              <a:t>3. Exploratory Data Analysis</a:t>
            </a:r>
          </a:p>
          <a:p>
            <a:pPr>
              <a:defRPr sz="1100">
                <a:solidFill>
                  <a:srgbClr val="212529"/>
                </a:solidFill>
              </a:defRPr>
            </a:pPr>
            <a:r>
              <a:t>Descriptive statistics, distribution shapes, correlation heatmaps, environmental impact.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074920"/>
            <a:ext cx="5212080" cy="1097280"/>
          </a:xfrm>
          <a:prstGeom prst="roundRect">
            <a:avLst/>
          </a:prstGeom>
          <a:solidFill>
            <a:srgbClr val="F8F9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400" b="1">
                <a:solidFill>
                  <a:srgbClr val="102542"/>
                </a:solidFill>
              </a:defRPr>
            </a:pPr>
            <a:r>
              <a:t>4. Main Analysis &amp; Methods</a:t>
            </a:r>
          </a:p>
          <a:p>
            <a:pPr>
              <a:defRPr sz="1100">
                <a:solidFill>
                  <a:srgbClr val="212529"/>
                </a:solidFill>
              </a:defRPr>
            </a:pPr>
            <a:r>
              <a:t>Techniques aligned with course lectures: Dimensionality Reduction, Regression, Diagnostics.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1097280"/>
          </a:xfrm>
          <a:prstGeom prst="roundRect">
            <a:avLst/>
          </a:prstGeom>
          <a:solidFill>
            <a:srgbClr val="F8F9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400" b="1">
                <a:solidFill>
                  <a:srgbClr val="102542"/>
                </a:solidFill>
              </a:defRPr>
            </a:pPr>
            <a:r>
              <a:t>5. Preview of Results</a:t>
            </a:r>
          </a:p>
          <a:p>
            <a:pPr>
              <a:defRPr sz="1100">
                <a:solidFill>
                  <a:srgbClr val="212529"/>
                </a:solidFill>
              </a:defRPr>
            </a:pPr>
            <a:r>
              <a:t>High-level summary of model performance, key feature importances, emission trade-offs.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606040"/>
            <a:ext cx="5212080" cy="1097280"/>
          </a:xfrm>
          <a:prstGeom prst="roundRect">
            <a:avLst/>
          </a:prstGeom>
          <a:solidFill>
            <a:srgbClr val="F8F9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400" b="1">
                <a:solidFill>
                  <a:srgbClr val="102542"/>
                </a:solidFill>
              </a:defRPr>
            </a:pPr>
            <a:r>
              <a:t>6. Detailed Results</a:t>
            </a:r>
          </a:p>
          <a:p>
            <a:pPr>
              <a:defRPr sz="1100">
                <a:solidFill>
                  <a:srgbClr val="212529"/>
                </a:solidFill>
              </a:defRPr>
            </a:pPr>
            <a:r>
              <a:t>In-depth metric breakdown (R², RMSE, residuals), cross-validation across 2011–2015.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840480"/>
            <a:ext cx="5212080" cy="1097280"/>
          </a:xfrm>
          <a:prstGeom prst="roundRect">
            <a:avLst/>
          </a:prstGeom>
          <a:solidFill>
            <a:srgbClr val="F8F9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400" b="1">
                <a:solidFill>
                  <a:srgbClr val="102542"/>
                </a:solidFill>
              </a:defRPr>
            </a:pPr>
            <a:r>
              <a:t>7. Conclusions</a:t>
            </a:r>
          </a:p>
          <a:p>
            <a:pPr>
              <a:defRPr sz="1100">
                <a:solidFill>
                  <a:srgbClr val="212529"/>
                </a:solidFill>
              </a:defRPr>
            </a:pPr>
            <a:r>
              <a:t>Industrial takeaways, operational recommendations, turbine emission control strategies.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02542"/>
          </a:solidFill>
          <a:ln>
            <a:solidFill>
              <a:srgbClr val="102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ctr">
              <a:defRPr sz="1100" b="1">
                <a:solidFill>
                  <a:srgbClr val="B4D7EB"/>
                </a:solidFill>
              </a:defRPr>
            </a:pPr>
            <a:r>
              <a:t>PHASE 1: DATASET PROFILING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1. Description of the Dataset &amp; Sensor Features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657600" cy="5029200"/>
          </a:xfrm>
          <a:prstGeom prst="roundRect">
            <a:avLst/>
          </a:prstGeom>
          <a:solidFill>
            <a:srgbClr val="F8F9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600" b="1">
                <a:solidFill>
                  <a:srgbClr val="102542"/>
                </a:solidFill>
              </a:defRPr>
            </a:pPr>
            <a:r>
              <a:t>Dataset Characteristics</a:t>
            </a:r>
          </a:p>
          <a:p>
            <a:pPr>
              <a:defRPr sz="1200">
                <a:solidFill>
                  <a:srgbClr val="212529"/>
                </a:solidFill>
              </a:defRPr>
            </a:pPr>
            <a:r>
              <a:t>• Location: Gas turbine plant in NW Turkey</a:t>
            </a:r>
          </a:p>
          <a:p>
            <a:pPr>
              <a:defRPr sz="1200">
                <a:solidFill>
                  <a:srgbClr val="212529"/>
                </a:solidFill>
              </a:defRPr>
            </a:pPr>
            <a:r>
              <a:t>• Timeframe: 2011 – 2015 (5 consecutive years)</a:t>
            </a:r>
          </a:p>
          <a:p>
            <a:pPr>
              <a:defRPr sz="1200">
                <a:solidFill>
                  <a:srgbClr val="212529"/>
                </a:solidFill>
              </a:defRPr>
            </a:pPr>
            <a:r>
              <a:t>• Granularity: Hourly aggregated averages/sums</a:t>
            </a:r>
          </a:p>
          <a:p>
            <a:pPr>
              <a:defRPr sz="1200">
                <a:solidFill>
                  <a:srgbClr val="212529"/>
                </a:solidFill>
              </a:defRPr>
            </a:pPr>
            <a:r>
              <a:t>• Observations: 36,733 instances (sorted in time)</a:t>
            </a:r>
          </a:p>
          <a:p>
            <a:pPr>
              <a:defRPr sz="1200">
                <a:solidFill>
                  <a:srgbClr val="212529"/>
                </a:solidFill>
              </a:defRPr>
            </a:pPr>
            <a:r>
              <a:t>• Missing Values: 0 (Complete sensor records)</a:t>
            </a:r>
          </a:p>
          <a:p>
            <a:pPr>
              <a:defRPr sz="1200">
                <a:solidFill>
                  <a:srgbClr val="212529"/>
                </a:solidFill>
              </a:defRPr>
            </a:pPr>
            <a:r>
              <a:t>• Data Protocol: Train: 2011-13 (22,191 samples, 60.4%)</a:t>
            </a:r>
            <a:br/>
            <a:r>
              <a:t>Test: 2014-15 (14,535 samples, 39.6%)</a:t>
            </a:r>
          </a:p>
          <a:p>
            <a:pPr>
              <a:defRPr sz="1200">
                <a:solidFill>
                  <a:srgbClr val="212529"/>
                </a:solidFill>
              </a:defRPr>
            </a:pPr>
            <a:r>
              <a:t>• Key Targets: Emissions (CO, NOx), Energy (TEY)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663440" y="1371600"/>
          <a:ext cx="67665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005840"/>
                <a:gridCol w="914400"/>
                <a:gridCol w="3474720"/>
              </a:tblGrid>
              <a:tr h="41910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1025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Variable</a:t>
                      </a:r>
                    </a:p>
                  </a:txBody>
                  <a:tcPr>
                    <a:solidFill>
                      <a:srgbClr val="1025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Unit</a:t>
                      </a:r>
                    </a:p>
                  </a:txBody>
                  <a:tcPr>
                    <a:solidFill>
                      <a:srgbClr val="1025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Physical Role / Meaning</a:t>
                      </a:r>
                    </a:p>
                  </a:txBody>
                  <a:tcPr>
                    <a:solidFill>
                      <a:srgbClr val="102542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Ambient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AT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°C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Ambient Temperature (inlet air density driver)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Ambient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mbar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Ambient Atmospheric Pressure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Ambient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AH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Ambient Relative Humidity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Turbine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AFDP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mbar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Air Filter Difference Pressure (filter clogging)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Turbine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GTEP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mbar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Gas Turbine Exhaust Pressure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Turbine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TIT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°C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Turbine Inlet Temperature (efficiency driver)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Turbine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TAT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°C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Turbine After Temperature (exhaust)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Turbine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CDP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mbar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Compressor Discharge Pressure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Yield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TEY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MWh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Turbine Energy Yield (Net power output)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Emission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mg/m³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Carbon Monoxide (Incomplete combustion)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Emission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NOx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mg/m³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Nitrogen Oxides (Thermal NOx mechanism)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02542"/>
          </a:solidFill>
          <a:ln>
            <a:solidFill>
              <a:srgbClr val="102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ctr">
              <a:defRPr sz="1100" b="1">
                <a:solidFill>
                  <a:srgbClr val="B4D7EB"/>
                </a:solidFill>
              </a:defRPr>
            </a:pPr>
            <a:r>
              <a:t>PHASE 1: DATA PREPARATION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2. Data Cleaning, Quality Validation &amp; Preprocessing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383280" cy="2286000"/>
          </a:xfrm>
          <a:prstGeom prst="roundRect">
            <a:avLst/>
          </a:prstGeom>
          <a:solidFill>
            <a:srgbClr val="F8F9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400" b="1">
                <a:solidFill>
                  <a:srgbClr val="102542"/>
                </a:solidFill>
              </a:defRPr>
            </a:pPr>
            <a:r>
              <a:t>1. Completeness &amp; Integrity</a:t>
            </a:r>
          </a:p>
          <a:p>
            <a:pPr>
              <a:defRPr sz="1050">
                <a:solidFill>
                  <a:srgbClr val="212529"/>
                </a:solidFill>
              </a:defRPr>
            </a:pPr>
            <a:r>
              <a:t>• Missing Values: 0 nulls across all 11 columns.</a:t>
            </a:r>
          </a:p>
          <a:p>
            <a:pPr>
              <a:defRPr sz="1050">
                <a:solidFill>
                  <a:srgbClr val="212529"/>
                </a:solidFill>
              </a:defRPr>
            </a:pPr>
            <a:r>
              <a:t>• Duplicates: 7 sensor-profile duplicates pruned (36,726 clean rows).</a:t>
            </a:r>
          </a:p>
          <a:p>
            <a:pPr>
              <a:defRPr sz="1050">
                <a:solidFill>
                  <a:srgbClr val="212529"/>
                </a:solidFill>
              </a:defRPr>
            </a:pPr>
            <a:r>
              <a:t>• Chronology: Preserved time order across 2011–2015.</a:t>
            </a:r>
          </a:p>
          <a:p>
            <a:pPr>
              <a:defRPr sz="1050">
                <a:solidFill>
                  <a:srgbClr val="212529"/>
                </a:solidFill>
              </a:defRPr>
            </a:pPr>
            <a:r>
              <a:t>• Sanity Checks: Range verified for positive pressures &amp; valid temps.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371600"/>
            <a:ext cx="3383280" cy="2286000"/>
          </a:xfrm>
          <a:prstGeom prst="roundRect">
            <a:avLst/>
          </a:prstGeom>
          <a:solidFill>
            <a:srgbClr val="F8F9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400" b="1">
                <a:solidFill>
                  <a:srgbClr val="102542"/>
                </a:solidFill>
              </a:defRPr>
            </a:pPr>
            <a:r>
              <a:t>2. σ-Clipping (Course Method)</a:t>
            </a:r>
          </a:p>
          <a:p>
            <a:pPr>
              <a:defRPr sz="1050">
                <a:solidFill>
                  <a:srgbClr val="212529"/>
                </a:solidFill>
              </a:defRPr>
            </a:pPr>
            <a:r>
              <a:t>• Robust Dispersion: $\hat{\sigma} = \frac{IQR}{1.35} = \frac{Q_3 - Q_1}{1.35}$</a:t>
            </a:r>
          </a:p>
          <a:p>
            <a:pPr>
              <a:defRPr sz="1050">
                <a:solidFill>
                  <a:srgbClr val="212529"/>
                </a:solidFill>
              </a:defRPr>
            </a:pPr>
            <a:r>
              <a:t>• Robust Centering: Uses Median ($Q_2$) to resist leverage.</a:t>
            </a:r>
          </a:p>
          <a:p>
            <a:pPr>
              <a:defRPr sz="1050">
                <a:solidFill>
                  <a:srgbClr val="212529"/>
                </a:solidFill>
              </a:defRPr>
            </a:pPr>
            <a:r>
              <a:t>• Boundaries: $[\text{Med} - 5\hat{\sigma},\; \text{Med} + 5\hat{\sigma}]$</a:t>
            </a:r>
          </a:p>
          <a:p>
            <a:pPr>
              <a:defRPr sz="1050">
                <a:solidFill>
                  <a:srgbClr val="212529"/>
                </a:solidFill>
              </a:defRPr>
            </a:pPr>
            <a:r>
              <a:t>• Ambient/Turbine: 0 outliers (100% physically valid).</a:t>
            </a:r>
          </a:p>
          <a:p>
            <a:pPr>
              <a:defRPr sz="1050">
                <a:solidFill>
                  <a:srgbClr val="212529"/>
                </a:solidFill>
              </a:defRPr>
            </a:pPr>
            <a:r>
              <a:t>• Inspection Only: Extreme values retained as real transient conditions.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371600"/>
            <a:ext cx="3383280" cy="2286000"/>
          </a:xfrm>
          <a:prstGeom prst="roundRect">
            <a:avLst/>
          </a:prstGeom>
          <a:solidFill>
            <a:srgbClr val="F8F9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400" b="1">
                <a:solidFill>
                  <a:srgbClr val="102542"/>
                </a:solidFill>
              </a:defRPr>
            </a:pPr>
            <a:r>
              <a:t>3. Protocol &amp; Scaling</a:t>
            </a:r>
          </a:p>
          <a:p>
            <a:pPr>
              <a:defRPr sz="1050">
                <a:solidFill>
                  <a:srgbClr val="212529"/>
                </a:solidFill>
              </a:defRPr>
            </a:pPr>
            <a:r>
              <a:t>• Train Set (2011–13): 22,191 samples (60.4%)</a:t>
            </a:r>
          </a:p>
          <a:p>
            <a:pPr>
              <a:defRPr sz="1050">
                <a:solidFill>
                  <a:srgbClr val="212529"/>
                </a:solidFill>
              </a:defRPr>
            </a:pPr>
            <a:r>
              <a:t>• Test Set (2014–15): 14,535 samples (39.6%)</a:t>
            </a:r>
          </a:p>
          <a:p>
            <a:pPr>
              <a:defRPr sz="1050">
                <a:solidFill>
                  <a:srgbClr val="212529"/>
                </a:solidFill>
              </a:defRPr>
            </a:pPr>
            <a:r>
              <a:t>• No Leakage: Fit scaler strictly on Train, transform Test.</a:t>
            </a:r>
          </a:p>
          <a:p>
            <a:pPr>
              <a:defRPr sz="1050">
                <a:solidFill>
                  <a:srgbClr val="212529"/>
                </a:solidFill>
              </a:defRPr>
            </a:pPr>
            <a:r>
              <a:t>• Target Separation: Standardized 8 predictors and 3 targets independently.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3931920"/>
          <a:ext cx="1069848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  <a:gridCol w="1783080"/>
                <a:gridCol w="1783080"/>
                <a:gridCol w="1783080"/>
              </a:tblGrid>
              <a:tr h="352697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Variable</a:t>
                      </a:r>
                    </a:p>
                  </a:txBody>
                  <a:tcPr>
                    <a:solidFill>
                      <a:srgbClr val="1025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Median (Q2)</a:t>
                      </a:r>
                    </a:p>
                  </a:txBody>
                  <a:tcPr>
                    <a:solidFill>
                      <a:srgbClr val="1025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IQR (Q3 - Q1)</a:t>
                      </a:r>
                    </a:p>
                  </a:txBody>
                  <a:tcPr>
                    <a:solidFill>
                      <a:srgbClr val="1025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Est. σ̂ (IQR/1.35)</a:t>
                      </a:r>
                    </a:p>
                  </a:txBody>
                  <a:tcPr>
                    <a:solidFill>
                      <a:srgbClr val="1025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Valid Interval [Med ± 5σ̂]</a:t>
                      </a:r>
                    </a:p>
                  </a:txBody>
                  <a:tcPr>
                    <a:solidFill>
                      <a:srgbClr val="1025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Physical Assessment</a:t>
                      </a:r>
                    </a:p>
                  </a:txBody>
                  <a:tcPr>
                    <a:solidFill>
                      <a:srgbClr val="102542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AT (°C)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17.80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11.88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8.80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[-26.22, 61.82]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0 outliers (Physical weather)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AP (mbar)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1012.60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8.20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6.07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[982.23, 1042.97]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0 outliers (Barometric band)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TIT (°C)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1085.90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25.20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18.67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[992.57, 1179.23]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0 outliers (Firing regime)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TEY (MWh)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133.73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19.63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14.54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[61.03, 206.43]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0 outliers (Generator range)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CO (mg/m³)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1.71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1.66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1.23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[-4.44, 7.87]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Spikes = Incomplete combustion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52698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NOx (mg/m³)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63.85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14.38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10.66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[10.57, 117.13]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Peaks = High flame temp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02542"/>
          </a:solidFill>
          <a:ln>
            <a:solidFill>
              <a:srgbClr val="102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ctr">
              <a:defRPr sz="1100" b="1">
                <a:solidFill>
                  <a:srgbClr val="B4D7EB"/>
                </a:solidFill>
              </a:defRPr>
            </a:pPr>
            <a:r>
              <a:t>PHASE 2: EXPLORATORY DATA ANALYSIS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3. Exploratory Analysis: Distributions &amp; Correlation Structure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5120640" cy="5120640"/>
          </a:xfrm>
          <a:prstGeom prst="roundRect">
            <a:avLst/>
          </a:prstGeom>
          <a:solidFill>
            <a:srgbClr val="F8F9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400" b="1">
                <a:solidFill>
                  <a:srgbClr val="102542"/>
                </a:solidFill>
              </a:defRPr>
            </a:pPr>
            <a:r>
              <a:t>Course Definition &amp; Statistical Synthesis</a:t>
            </a:r>
          </a:p>
          <a:p>
            <a:br/>
            <a:pPr>
              <a:defRPr b="1" sz="1100">
                <a:solidFill>
                  <a:srgbClr val="296299"/>
                </a:solidFill>
              </a:defRPr>
            </a:pPr>
            <a:r>
              <a:t>Exploratory Analysis (Slide 3 &amp; 10):</a:t>
            </a:r>
          </a:p>
          <a:p>
            <a:pPr>
              <a:defRPr sz="1000">
                <a:solidFill>
                  <a:srgbClr val="212529"/>
                </a:solidFill>
              </a:defRPr>
            </a:pPr>
            <a:r>
              <a:t>Unsupervised synthesis of distributions into Size (Mean $\mu$, Median, Mode) and Spread (Variance $\sigma^2$, Std, IQR, Gini $G$, Entropy $H$).</a:t>
            </a:r>
          </a:p>
          <a:p>
            <a:br/>
            <a:pPr>
              <a:defRPr b="1" sz="1100">
                <a:solidFill>
                  <a:srgbClr val="296299"/>
                </a:solidFill>
              </a:defRPr>
            </a:pPr>
            <a:r>
              <a:t>Size vs Spread Synthesis:</a:t>
            </a:r>
          </a:p>
          <a:p>
            <a:pPr>
              <a:defRPr sz="1000">
                <a:solidFill>
                  <a:srgbClr val="212529"/>
                </a:solidFill>
              </a:defRPr>
            </a:pPr>
            <a:r>
              <a:t>• Mean vs Median: CO mean (2.21) &gt;&gt; median (1.52) demonstrates strong positive skew.</a:t>
            </a:r>
            <a:br/>
            <a:r>
              <a:t>• Gini Index: CO exhibits high concentration (G=0.442) due to episodic spikes.</a:t>
            </a:r>
          </a:p>
          <a:p>
            <a:br/>
            <a:pPr>
              <a:defRPr b="1" sz="1100">
                <a:solidFill>
                  <a:srgbClr val="296299"/>
                </a:solidFill>
              </a:defRPr>
            </a:pPr>
            <a:r>
              <a:t>Key Pearson Correlation ($r_{XY}$) Findings:</a:t>
            </a:r>
          </a:p>
          <a:p>
            <a:pPr>
              <a:defRPr sz="1000">
                <a:solidFill>
                  <a:srgbClr val="212529"/>
                </a:solidFill>
              </a:defRPr>
            </a:pPr>
            <a:r>
              <a:t>• Compressor &amp; Energy Coupling: CDP &amp; TEY ($r = 0.99$), GTEP &amp; TEY ($r = 0.98$) indicate strong collinearity in operating load.</a:t>
            </a:r>
            <a:br/>
            <a:r>
              <a:t>• Environmental Cooling Effect: Ambient Temp AT vs TEY ($r = -0.58$) due to reduced air density at higher temperatures.</a:t>
            </a:r>
            <a:br/>
            <a:r>
              <a:t>• Combustion Trade-off: CO vs NOx ($r = -0.37$) reflects the physical inverse relationship between complete oxidation and thermal NOx.</a:t>
            </a:r>
          </a:p>
        </p:txBody>
      </p:sp>
      <p:pic>
        <p:nvPicPr>
          <p:cNvPr id="4" name="Picture 3" descr="eda_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280160"/>
            <a:ext cx="5303520" cy="418698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02542"/>
          </a:solidFill>
          <a:ln>
            <a:solidFill>
              <a:srgbClr val="102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ctr">
              <a:defRPr sz="1100" b="1">
                <a:solidFill>
                  <a:srgbClr val="B4D7EB"/>
                </a:solidFill>
              </a:defRPr>
            </a:pPr>
            <a:r>
              <a:t>PHASE 2: UNSUPERVISED PCA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3. Exploratory Analysis: PCA Dimensionality Reduction &amp; Biplot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5120640" cy="5120640"/>
          </a:xfrm>
          <a:prstGeom prst="roundRect">
            <a:avLst/>
          </a:prstGeom>
          <a:solidFill>
            <a:srgbClr val="F8F9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400" b="1">
                <a:solidFill>
                  <a:srgbClr val="102542"/>
                </a:solidFill>
              </a:defRPr>
            </a:pPr>
            <a:r>
              <a:t>PCA as an Exploratory Technique (Slide 70)</a:t>
            </a:r>
          </a:p>
          <a:p>
            <a:br/>
            <a:pPr>
              <a:defRPr b="1" sz="1100">
                <a:solidFill>
                  <a:srgbClr val="296299"/>
                </a:solidFill>
              </a:defRPr>
            </a:pPr>
            <a:r>
              <a:t>Course Formulation (Slide 75):</a:t>
            </a:r>
          </a:p>
          <a:p>
            <a:pPr>
              <a:defRPr sz="1000">
                <a:solidFill>
                  <a:srgbClr val="212529"/>
                </a:solidFill>
              </a:defRPr>
            </a:pPr>
            <a:r>
              <a:t>Eigen-decomposition of Covariance Matrix $C v_i = \lambda_i v_i$.</a:t>
            </a:r>
            <a:br/>
            <a:r>
              <a:t>Proportion of Variance Explained: $\text{PVE}_i = \lambda_i / \sum \lambda_j$.</a:t>
            </a:r>
          </a:p>
          <a:p>
            <a:br/>
            <a:pPr>
              <a:defRPr b="1" sz="1100">
                <a:solidFill>
                  <a:srgbClr val="296299"/>
                </a:solidFill>
              </a:defRPr>
            </a:pPr>
            <a:r>
              <a:t>Dimensionality Reduction Results:</a:t>
            </a:r>
          </a:p>
          <a:p>
            <a:pPr>
              <a:defRPr sz="1000">
                <a:solidFill>
                  <a:srgbClr val="212529"/>
                </a:solidFill>
              </a:defRPr>
            </a:pPr>
            <a:r>
              <a:t>• PC1 (48.28%): Captures general turbine thermodynamic load (high loadings for CDP, TEY, GTEP, TIT).</a:t>
            </a:r>
            <a:br/>
            <a:r>
              <a:t>• PC2 (20.48%): Captures ambient temperature (AT) and the inverse CO vs NOx combustion trade-off.</a:t>
            </a:r>
            <a:br/>
            <a:r>
              <a:t>• First 2 PCs capture 68.76% of total system variance.</a:t>
            </a:r>
            <a:br/>
            <a:r>
              <a:t>• First 5 PCs capture 92.02% (Scree plot elbow at $p=5$).</a:t>
            </a:r>
          </a:p>
          <a:p>
            <a:br/>
            <a:pPr>
              <a:defRPr b="1" sz="1100">
                <a:solidFill>
                  <a:srgbClr val="296299"/>
                </a:solidFill>
              </a:defRPr>
            </a:pPr>
            <a:r>
              <a:t>Industrial Takeaway:</a:t>
            </a:r>
          </a:p>
          <a:p>
            <a:pPr>
              <a:defRPr sz="1000">
                <a:solidFill>
                  <a:srgbClr val="212529"/>
                </a:solidFill>
              </a:defRPr>
            </a:pPr>
            <a:r>
              <a:t>The 11 physical sensors effectively lie on a low-dimensional manifold governed by ambient weather and power dispatch.</a:t>
            </a:r>
          </a:p>
        </p:txBody>
      </p:sp>
      <p:pic>
        <p:nvPicPr>
          <p:cNvPr id="4" name="Picture 3" descr="eda_pca_bi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280160"/>
            <a:ext cx="5303520" cy="3830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02542"/>
          </a:solidFill>
          <a:ln>
            <a:solidFill>
              <a:srgbClr val="102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ctr">
              <a:defRPr sz="1100" b="1">
                <a:solidFill>
                  <a:srgbClr val="B4D7EB"/>
                </a:solidFill>
              </a:defRPr>
            </a:pPr>
            <a:r>
              <a:t>PHASE 3: METHODOLOGICAL FRAMEWORK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4. Main Analysis: Objectives &amp; Methodological Framework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383280" cy="2926080"/>
          </a:xfrm>
          <a:prstGeom prst="roundRect">
            <a:avLst/>
          </a:prstGeom>
          <a:solidFill>
            <a:srgbClr val="F8F9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300" b="1">
                <a:solidFill>
                  <a:srgbClr val="102542"/>
                </a:solidFill>
              </a:defRPr>
            </a:pPr>
            <a:r>
              <a:t>Objective 1: Energy Yield (TEY) &amp; PCR</a:t>
            </a:r>
          </a:p>
          <a:p>
            <a:pPr>
              <a:defRPr sz="1000">
                <a:solidFill>
                  <a:srgbClr val="212529"/>
                </a:solidFill>
              </a:defRPr>
            </a:pPr>
            <a:r>
              <a:t>• Predict net turbine energy yield from 8 sensor telemetry features.</a:t>
            </a:r>
            <a:br/>
            <a:r>
              <a:t>• Problem: Extreme Multicollinearity (VIF &gt; 250 for CDP, TIT, GTEP, Slide 115).</a:t>
            </a:r>
            <a:br/>
            <a:r>
              <a:t>• Method: Principal Component Regression (PCR, Slides 70, 106) on 4 feature PCs ($Z = X_{\text{std}} V_4$, 90.76% PVE) to eliminate variance inflation and ensure numerical stability.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371600"/>
            <a:ext cx="3383280" cy="2926080"/>
          </a:xfrm>
          <a:prstGeom prst="roundRect">
            <a:avLst/>
          </a:prstGeom>
          <a:solidFill>
            <a:srgbClr val="F8F9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300" b="1">
                <a:solidFill>
                  <a:srgbClr val="102542"/>
                </a:solidFill>
              </a:defRPr>
            </a:pPr>
            <a:r>
              <a:t>Objective 2: Emissions Modeling (CO &amp; NOx)</a:t>
            </a:r>
          </a:p>
          <a:p>
            <a:pPr>
              <a:defRPr sz="1000">
                <a:solidFill>
                  <a:srgbClr val="212529"/>
                </a:solidFill>
              </a:defRPr>
            </a:pPr>
            <a:r>
              <a:t>• Quantify pollutant generation as a function of firing state.</a:t>
            </a:r>
            <a:br/>
            <a:r>
              <a:t>• Method: Polynomial Regression (Slide 116 &amp; Ex 4.1) for CO to capture steep non-linear spikes during low-load/startup regimes ($x \to [x, x^2]$).</a:t>
            </a:r>
            <a:br/>
            <a:r>
              <a:t>• Multivariate OLS for NOx tracking thermal oxidation.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371600"/>
            <a:ext cx="3383280" cy="2926080"/>
          </a:xfrm>
          <a:prstGeom prst="roundRect">
            <a:avLst/>
          </a:prstGeom>
          <a:solidFill>
            <a:srgbClr val="F8F9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300" b="1">
                <a:solidFill>
                  <a:srgbClr val="102542"/>
                </a:solidFill>
              </a:defRPr>
            </a:pPr>
            <a:r>
              <a:t>Objective 3: Operational Regimes (K-Means)</a:t>
            </a:r>
          </a:p>
          <a:p>
            <a:pPr>
              <a:defRPr sz="1000">
                <a:solidFill>
                  <a:srgbClr val="212529"/>
                </a:solidFill>
              </a:defRPr>
            </a:pPr>
            <a:r>
              <a:t>• Discover discrete turbine operational regimes (Unsupervised).</a:t>
            </a:r>
            <a:br/>
            <a:r>
              <a:t>• Method: K-Means Clustering (Slides 90-91) with Silhouette validation (Slide 94, Ex 3.1): $\text{SIL} = \frac{1}{m}\sum \frac{b_i - a_i}{\max(a_i, b_i)}$.</a:t>
            </a:r>
            <a:br/>
            <a:r>
              <a:t>• Identifies Base-load, Peak-load, and Low-load emission profiles.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480560"/>
            <a:ext cx="10698480" cy="1920240"/>
          </a:xfrm>
          <a:prstGeom prst="roundRect">
            <a:avLst/>
          </a:prstGeom>
          <a:solidFill>
            <a:srgbClr val="F8F9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>
              <a:defRPr sz="1300" b="1">
                <a:solidFill>
                  <a:srgbClr val="102542"/>
                </a:solidFill>
              </a:defRPr>
            </a:pPr>
            <a:r>
              <a:t>Mathematical Formulations &amp; Accuracy Metrics (Course Standards)</a:t>
            </a:r>
          </a:p>
          <a:p>
            <a:pPr>
              <a:defRPr sz="1050">
                <a:solidFill>
                  <a:srgbClr val="212529"/>
                </a:solidFill>
              </a:defRPr>
            </a:pPr>
            <a:r>
              <a:t>• Ordinary Least Squares: $\hat{\beta} = (X^T X)^{-1} X^T y$ (Slide 106, computed via `np.linalg.lstsq` for numerical stability)</a:t>
            </a:r>
            <a:br/>
            <a:r>
              <a:t>• Principal Component Regression: $\hat{\beta}_{PCR} = (Z^T Z)^{-1} Z^T y$, where $Z = X_{\text{std}} V_4$ (4 PCs capturing 90.76% PVE)</a:t>
            </a:r>
            <a:br/>
            <a:r>
              <a:t>• Multicollinearity VIF: $\text{VIF}(\hat{\beta}_j) = \frac{1}{1 - R^2_{x_j|x_{-j}}}$ (Slide 115) | Silhouette Quality: $\text{SIL}_i = \frac{b_i - a_i}{\max(a_i, b_i)}$ (Slide 94)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02542"/>
          </a:solidFill>
          <a:ln>
            <a:solidFill>
              <a:srgbClr val="102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ctr">
              <a:defRPr sz="1100" b="1">
                <a:solidFill>
                  <a:srgbClr val="B4D7EB"/>
                </a:solidFill>
              </a:defRPr>
            </a:pPr>
            <a:r>
              <a:t>PHASE 4: RESULTS SYNTHESIS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5. Preview &amp; High-Level Summary of Results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2514600" cy="1463040"/>
          </a:xfrm>
          <a:prstGeom prst="roundRect">
            <a:avLst/>
          </a:prstGeom>
          <a:solidFill>
            <a:srgbClr val="EBF7EE"/>
          </a:solidFill>
          <a:ln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defRPr sz="2400" b="1">
                <a:solidFill>
                  <a:srgbClr val="28A745"/>
                </a:solidFill>
              </a:defRPr>
            </a:pPr>
            <a:r>
              <a:t>0.9501</a:t>
            </a:r>
          </a:p>
          <a:p>
            <a:pPr>
              <a:defRPr sz="1050" b="1">
                <a:solidFill>
                  <a:srgbClr val="212529"/>
                </a:solidFill>
              </a:defRPr>
            </a:pPr>
            <a:r>
              <a:t>Best TEY Test R² (OLS)</a:t>
            </a:r>
          </a:p>
          <a:p>
            <a:pPr>
              <a:defRPr sz="900">
                <a:solidFill>
                  <a:srgbClr val="6C757D"/>
                </a:solidFill>
              </a:defRPr>
            </a:pPr>
            <a:r>
              <a:t>Full 8-feature multivariate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4720" y="1280160"/>
            <a:ext cx="2514600" cy="1463040"/>
          </a:xfrm>
          <a:prstGeom prst="roundRect">
            <a:avLst/>
          </a:prstGeom>
          <a:solidFill>
            <a:srgbClr val="EBF7EE"/>
          </a:solidFill>
          <a:ln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defRPr sz="2400" b="1">
                <a:solidFill>
                  <a:srgbClr val="28A745"/>
                </a:solidFill>
              </a:defRPr>
            </a:pPr>
            <a:r>
              <a:t>0.9397</a:t>
            </a:r>
          </a:p>
          <a:p>
            <a:pPr>
              <a:defRPr sz="1050" b="1">
                <a:solidFill>
                  <a:srgbClr val="212529"/>
                </a:solidFill>
              </a:defRPr>
            </a:pPr>
            <a:r>
              <a:t>TEY PCR Test R² (4 PCs)</a:t>
            </a:r>
          </a:p>
          <a:p>
            <a:pPr>
              <a:defRPr sz="900">
                <a:solidFill>
                  <a:srgbClr val="6C757D"/>
                </a:solidFill>
              </a:defRPr>
            </a:pPr>
            <a:r>
              <a:t>Collinearity-free (90.76% PVE)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280160"/>
            <a:ext cx="2514600" cy="1463040"/>
          </a:xfrm>
          <a:prstGeom prst="roundRect">
            <a:avLst/>
          </a:prstGeom>
          <a:solidFill>
            <a:srgbClr val="F8F9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defRPr sz="2400" b="1">
                <a:solidFill>
                  <a:srgbClr val="102542"/>
                </a:solidFill>
              </a:defRPr>
            </a:pPr>
            <a:r>
              <a:t>0.6477</a:t>
            </a:r>
          </a:p>
          <a:p>
            <a:pPr>
              <a:defRPr sz="1050" b="1">
                <a:solidFill>
                  <a:srgbClr val="212529"/>
                </a:solidFill>
              </a:defRPr>
            </a:pPr>
            <a:r>
              <a:t>CO Train R² (Poly Deg. 2)</a:t>
            </a:r>
          </a:p>
          <a:p>
            <a:pPr>
              <a:defRPr sz="900">
                <a:solidFill>
                  <a:srgbClr val="6C757D"/>
                </a:solidFill>
              </a:defRPr>
            </a:pPr>
            <a:r>
              <a:t>Captures non-linear low-load curve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1280160"/>
            <a:ext cx="2514600" cy="1463040"/>
          </a:xfrm>
          <a:prstGeom prst="roundRect">
            <a:avLst/>
          </a:prstGeom>
          <a:solidFill>
            <a:srgbClr val="F8F9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defRPr sz="2400" b="1">
                <a:solidFill>
                  <a:srgbClr val="102542"/>
                </a:solidFill>
              </a:defRPr>
            </a:pPr>
            <a:r>
              <a:t>3 Regimes</a:t>
            </a:r>
          </a:p>
          <a:p>
            <a:pPr>
              <a:defRPr sz="1050" b="1">
                <a:solidFill>
                  <a:srgbClr val="212529"/>
                </a:solidFill>
              </a:defRPr>
            </a:pPr>
            <a:r>
              <a:t>Operational Clusters</a:t>
            </a:r>
          </a:p>
          <a:p>
            <a:pPr>
              <a:defRPr sz="900">
                <a:solidFill>
                  <a:srgbClr val="6C757D"/>
                </a:solidFill>
              </a:defRPr>
            </a:pPr>
            <a:r>
              <a:t>Peak, Baseload &amp; Part-Load (K-Means)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2926080"/>
          <a:ext cx="1069848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1828800"/>
                <a:gridCol w="1828800"/>
                <a:gridCol w="1828800"/>
                <a:gridCol w="1828800"/>
              </a:tblGrid>
              <a:tr h="43434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Target Variable &amp; Model Specification</a:t>
                      </a:r>
                    </a:p>
                  </a:txBody>
                  <a:tcPr>
                    <a:solidFill>
                      <a:srgbClr val="1025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Train R² (2011–13)</a:t>
                      </a:r>
                    </a:p>
                  </a:txBody>
                  <a:tcPr>
                    <a:solidFill>
                      <a:srgbClr val="1025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Train RMSE</a:t>
                      </a:r>
                    </a:p>
                  </a:txBody>
                  <a:tcPr>
                    <a:solidFill>
                      <a:srgbClr val="1025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Test R² (2014–15)</a:t>
                      </a:r>
                    </a:p>
                  </a:txBody>
                  <a:tcPr>
                    <a:solidFill>
                      <a:srgbClr val="1025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Test RMSE</a:t>
                      </a:r>
                    </a:p>
                  </a:txBody>
                  <a:tcPr>
                    <a:solidFill>
                      <a:srgbClr val="102542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2542"/>
                          </a:solidFill>
                        </a:defRPr>
                      </a:pPr>
                      <a:r>
                        <a:t>TEY: Full Multivariate OLS (8 Features)</a:t>
                      </a:r>
                    </a:p>
                  </a:txBody>
                  <a:tcPr>
                    <a:solidFill>
                      <a:srgbClr val="EBF7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2542"/>
                          </a:solidFill>
                        </a:defRPr>
                      </a:pPr>
                      <a:r>
                        <a:t>0.9977</a:t>
                      </a:r>
                    </a:p>
                  </a:txBody>
                  <a:tcPr>
                    <a:solidFill>
                      <a:srgbClr val="EBF7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2542"/>
                          </a:solidFill>
                        </a:defRPr>
                      </a:pPr>
                      <a:r>
                        <a:t>0.76 MWh</a:t>
                      </a:r>
                    </a:p>
                  </a:txBody>
                  <a:tcPr>
                    <a:solidFill>
                      <a:srgbClr val="EBF7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2542"/>
                          </a:solidFill>
                        </a:defRPr>
                      </a:pPr>
                      <a:r>
                        <a:t>0.9501</a:t>
                      </a:r>
                    </a:p>
                  </a:txBody>
                  <a:tcPr>
                    <a:solidFill>
                      <a:srgbClr val="EBF7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2542"/>
                          </a:solidFill>
                        </a:defRPr>
                      </a:pPr>
                      <a:r>
                        <a:t>3.35 MWh</a:t>
                      </a:r>
                    </a:p>
                  </a:txBody>
                  <a:tcPr>
                    <a:solidFill>
                      <a:srgbClr val="EBF7EE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2542"/>
                          </a:solidFill>
                        </a:defRPr>
                      </a:pPr>
                      <a:r>
                        <a:t>TEY: PCR (4 Principal Components, 90.76% PVE)</a:t>
                      </a:r>
                    </a:p>
                  </a:txBody>
                  <a:tcPr>
                    <a:solidFill>
                      <a:srgbClr val="EBF7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2542"/>
                          </a:solidFill>
                        </a:defRPr>
                      </a:pPr>
                      <a:r>
                        <a:t>0.9693</a:t>
                      </a:r>
                    </a:p>
                  </a:txBody>
                  <a:tcPr>
                    <a:solidFill>
                      <a:srgbClr val="EBF7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2542"/>
                          </a:solidFill>
                        </a:defRPr>
                      </a:pPr>
                      <a:r>
                        <a:t>2.81 MWh</a:t>
                      </a:r>
                    </a:p>
                  </a:txBody>
                  <a:tcPr>
                    <a:solidFill>
                      <a:srgbClr val="EBF7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2542"/>
                          </a:solidFill>
                        </a:defRPr>
                      </a:pPr>
                      <a:r>
                        <a:t>0.9397</a:t>
                      </a:r>
                    </a:p>
                  </a:txBody>
                  <a:tcPr>
                    <a:solidFill>
                      <a:srgbClr val="EBF7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2542"/>
                          </a:solidFill>
                        </a:defRPr>
                      </a:pPr>
                      <a:r>
                        <a:t>3.68 MWh</a:t>
                      </a:r>
                    </a:p>
                  </a:txBody>
                  <a:tcPr>
                    <a:solidFill>
                      <a:srgbClr val="EBF7EE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TEY: Training-Mean Baseline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0.0000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16.03 MWh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-0.0000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14.98 MWh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CO: Polynomial (Degree 2, Slide 116)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0.6477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1.36 mg/m³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0.2635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1.88 mg/m³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CO: Training-Mean Baseline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0.0000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2.30 mg/m³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-0.0333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2.23 mg/m³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NOx: Multivariate OLS (8 Features)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0.4536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8.16 mg/m³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-1.0928*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15.30 mg/m³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NOx: Training-Mean Baseline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0.0000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11.04 mg/m³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-0.6914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13.76 mg/m³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02542"/>
          </a:solidFill>
          <a:ln>
            <a:solidFill>
              <a:srgbClr val="102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ctr">
              <a:defRPr sz="1100" b="1">
                <a:solidFill>
                  <a:srgbClr val="B4D7EB"/>
                </a:solidFill>
              </a:defRPr>
            </a:pPr>
            <a:r>
              <a:t>PHASE 4: IN-DEPTH MODEL EVALUATION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6. Detailed Results: Energy Yield (TEY) &amp; PCR Diagnostics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5120640" cy="5120640"/>
          </a:xfrm>
          <a:prstGeom prst="roundRect">
            <a:avLst/>
          </a:prstGeom>
          <a:solidFill>
            <a:srgbClr val="F8F9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400" b="1">
                <a:solidFill>
                  <a:srgbClr val="102542"/>
                </a:solidFill>
              </a:defRPr>
            </a:pPr>
            <a:r>
              <a:t>TEY Model Diagnostics &amp; Multicollinearity</a:t>
            </a:r>
          </a:p>
          <a:p>
            <a:br/>
            <a:pPr>
              <a:defRPr b="1" sz="1100">
                <a:solidFill>
                  <a:srgbClr val="296299"/>
                </a:solidFill>
              </a:defRPr>
            </a:pPr>
            <a:r>
              <a:t>Multicollinearity Diagnostics (Slide 115):</a:t>
            </a:r>
          </a:p>
          <a:p>
            <a:pPr>
              <a:defRPr sz="1000">
                <a:solidFill>
                  <a:srgbClr val="212529"/>
                </a:solidFill>
              </a:defRPr>
            </a:pPr>
            <a:r>
              <a:t>• Extreme VIF scores diagnosed in operating telemetry: CDP (342.82), TIT (262.12), GTEP (260.47), TAT (133.21).</a:t>
            </a:r>
            <a:br/>
            <a:r>
              <a:t>• Predictor covariance eigen-decomposition reveals 4 PCs capture 90.76% of total feature variance.</a:t>
            </a:r>
          </a:p>
          <a:p>
            <a:br/>
            <a:pPr>
              <a:defRPr b="1" sz="1100">
                <a:solidFill>
                  <a:srgbClr val="296299"/>
                </a:solidFill>
              </a:defRPr>
            </a:pPr>
            <a:r>
              <a:t>OLS vs. PCR Tradeoff (Slides 70, 106):</a:t>
            </a:r>
          </a:p>
          <a:p>
            <a:pPr>
              <a:defRPr sz="1000">
                <a:solidFill>
                  <a:srgbClr val="212529"/>
                </a:solidFill>
              </a:defRPr>
            </a:pPr>
            <a:r>
              <a:t>• Full OLS: Highest raw test accuracy (Test R² = 0.9501, RMSE = 3.35 MWh), but predictor weights suffer from severe collinear instability.</a:t>
            </a:r>
            <a:br/>
            <a:r>
              <a:t>• PCR (4 PCs): Achieves Test R² = 0.9397 (RMSE = 3.68 MWh) while projecting onto strictly orthogonal coordinates, guaranteeing stable physical interpretation.</a:t>
            </a:r>
          </a:p>
          <a:p>
            <a:br/>
            <a:pPr>
              <a:defRPr b="1" sz="1100">
                <a:solidFill>
                  <a:srgbClr val="296299"/>
                </a:solidFill>
              </a:defRPr>
            </a:pPr>
            <a:r>
              <a:t>Residual Analysis (Slides 104, 108):</a:t>
            </a:r>
          </a:p>
          <a:p>
            <a:pPr>
              <a:defRPr sz="1000">
                <a:solidFill>
                  <a:srgbClr val="212529"/>
                </a:solidFill>
              </a:defRPr>
            </a:pPr>
            <a:r>
              <a:t>• Residuals $e_i = y_i - \hat{y}_i$ are zero-centered with symmetric Gaussian distribution and homoscedastic variance across the full 100–180 MWh generator span.</a:t>
            </a:r>
          </a:p>
        </p:txBody>
      </p:sp>
      <p:pic>
        <p:nvPicPr>
          <p:cNvPr id="4" name="Picture 3" descr="results_residuals_diagnos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280160"/>
            <a:ext cx="5303520" cy="208352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02542"/>
          </a:solidFill>
          <a:ln>
            <a:solidFill>
              <a:srgbClr val="102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ctr">
              <a:defRPr sz="1100" b="1">
                <a:solidFill>
                  <a:srgbClr val="B4D7EB"/>
                </a:solidFill>
              </a:defRPr>
            </a:pPr>
            <a:r>
              <a:t>PHASE 4: IN-DEPTH MODEL EVALUATION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6. Detailed Results: Emissions Modeling &amp; Operational Regimes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5120640" cy="5120640"/>
          </a:xfrm>
          <a:prstGeom prst="roundRect">
            <a:avLst/>
          </a:prstGeom>
          <a:solidFill>
            <a:srgbClr val="F8F9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400" b="1">
                <a:solidFill>
                  <a:srgbClr val="102542"/>
                </a:solidFill>
              </a:defRPr>
            </a:pPr>
            <a:r>
              <a:t>Emissions Modeling &amp; K-Means Clusters</a:t>
            </a:r>
          </a:p>
          <a:p>
            <a:br/>
            <a:pPr>
              <a:defRPr b="1" sz="1100">
                <a:solidFill>
                  <a:srgbClr val="296299"/>
                </a:solidFill>
              </a:defRPr>
            </a:pPr>
            <a:r>
              <a:t>CO Polynomial Enhancement (Slide 116):</a:t>
            </a:r>
          </a:p>
          <a:p>
            <a:pPr>
              <a:defRPr sz="950">
                <a:solidFill>
                  <a:srgbClr val="212529"/>
                </a:solidFill>
              </a:defRPr>
            </a:pPr>
            <a:r>
              <a:t>• Adding quadratic feature terms ($x \to [x, x^2]$) increases Train R² to 0.6477 (RMSE = 1.36 mg/m³).</a:t>
            </a:r>
            <a:br/>
            <a:r>
              <a:t>• Captures the non-linear inflection below 1070°C where incomplete combustion surges exponentially.</a:t>
            </a:r>
          </a:p>
          <a:p>
            <a:br/>
            <a:pPr>
              <a:defRPr b="1" sz="1100">
                <a:solidFill>
                  <a:srgbClr val="296299"/>
                </a:solidFill>
              </a:defRPr>
            </a:pPr>
            <a:r>
              <a:t>NOx Domain Shift Analysis (*):</a:t>
            </a:r>
          </a:p>
          <a:p>
            <a:pPr>
              <a:defRPr sz="950">
                <a:solidFill>
                  <a:srgbClr val="212529"/>
                </a:solidFill>
              </a:defRPr>
            </a:pPr>
            <a:r>
              <a:t>• Negative out-of-sample Test R² (-1.0928) reflects a plant hardware/burner recalibration in 2014–15 (baseline NOx dropped from 68.8 to 58.5 mg/m³).</a:t>
            </a:r>
          </a:p>
          <a:p>
            <a:br/>
            <a:pPr>
              <a:defRPr b="1" sz="1100">
                <a:solidFill>
                  <a:srgbClr val="296299"/>
                </a:solidFill>
              </a:defRPr>
            </a:pPr>
            <a:r>
              <a:t>Operational Regimes Profile (K=3, Silhouette = 0.3023):</a:t>
            </a:r>
          </a:p>
          <a:p>
            <a:pPr>
              <a:defRPr sz="950">
                <a:solidFill>
                  <a:srgbClr val="212529"/>
                </a:solidFill>
              </a:defRPr>
            </a:pPr>
            <a:r>
              <a:t>• Peak Load (4,309 hrs): TEY = 158.2 MWh, TIT = 1100°C, CDP = 13.8 mbar $\implies$ CO = 1.00 mg/m³.</a:t>
            </a:r>
            <a:br/>
            <a:r>
              <a:t>• Nominal Load (7,820 hrs): TEY = 134.5 MWh, TIT = 1091°C, CDP = 12.2 mbar $\implies$ CO = 1.48 mg/m³.</a:t>
            </a:r>
            <a:br/>
            <a:r>
              <a:t>• Part Load (10,062 hrs): TEY = 122.3 MWh, TIT = 1070°C, CDP = 11.2 mbar $\implies$ CO = 3.30 mg/m³ (3.3x higher!).</a:t>
            </a:r>
          </a:p>
        </p:txBody>
      </p:sp>
      <p:pic>
        <p:nvPicPr>
          <p:cNvPr id="4" name="Picture 3" descr="results_kmeans_regimes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280160"/>
            <a:ext cx="5303520" cy="208352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02542"/>
          </a:solidFill>
          <a:ln>
            <a:solidFill>
              <a:srgbClr val="102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ctr">
              <a:defRPr sz="1100" b="1">
                <a:solidFill>
                  <a:srgbClr val="B4D7EB"/>
                </a:solidFill>
              </a:defRPr>
            </a:pPr>
            <a:r>
              <a:t>PHASE 5: STRATEGIC INSIGHTS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7. Conclusions &amp; Engineering Recommendations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383280" cy="5029200"/>
          </a:xfrm>
          <a:prstGeom prst="roundRect">
            <a:avLst/>
          </a:prstGeom>
          <a:solidFill>
            <a:srgbClr val="F8F9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400" b="1">
                <a:solidFill>
                  <a:srgbClr val="102542"/>
                </a:solidFill>
              </a:defRPr>
            </a:pPr>
            <a:r>
              <a:t>1. Methodological Justifications</a:t>
            </a:r>
          </a:p>
          <a:p>
            <a:br/>
            <a:pPr>
              <a:defRPr sz="1050">
                <a:solidFill>
                  <a:srgbClr val="212529"/>
                </a:solidFill>
              </a:defRPr>
            </a:pPr>
            <a:r>
              <a:t>• Multicollinearity: VIF &gt; 250 proved that raw sensor telemetry is collinear. PCR on 4 orthogonal components captured 90.76% of variance, ensuring parameter stability.</a:t>
            </a:r>
            <a:br/>
            <a:r>
              <a:t>• Non-linear Physics: CO follows non-linear thermal oxidation kinetics; degree-2 polynomial expansion resolved the inflection point.</a:t>
            </a:r>
            <a:br/>
            <a:r>
              <a:t>• Unsupervised Regimes: K-Means (K=3) partitioned turbine operations into distinct thermodynamic states.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371600"/>
            <a:ext cx="3383280" cy="5029200"/>
          </a:xfrm>
          <a:prstGeom prst="roundRect">
            <a:avLst/>
          </a:prstGeom>
          <a:solidFill>
            <a:srgbClr val="F8F9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400" b="1">
                <a:solidFill>
                  <a:srgbClr val="102542"/>
                </a:solidFill>
              </a:defRPr>
            </a:pPr>
            <a:r>
              <a:t>2. Operational Emission Control</a:t>
            </a:r>
          </a:p>
          <a:p>
            <a:br/>
            <a:pPr>
              <a:defRPr sz="1050">
                <a:solidFill>
                  <a:srgbClr val="212529"/>
                </a:solidFill>
              </a:defRPr>
            </a:pPr>
            <a:r>
              <a:t>• Avoid Low Firing Regimes: Part-load operation below 1070°C firing produces 3.3x higher CO emissions.</a:t>
            </a:r>
            <a:br/>
            <a:r>
              <a:t>• Peak Load Cleanliness: Operating at peak load (TIT ~1100°C) maximizes power yield (158.2 MWh) and minimizes CO (1.0 mg/m³).</a:t>
            </a:r>
            <a:br/>
            <a:r>
              <a:t>• Ambient Weather Compensation: Ambient temperature penalizes turbine yield (-0.58 correlation), justifying inlet air chilling systems during summer.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371600"/>
            <a:ext cx="3383280" cy="5029200"/>
          </a:xfrm>
          <a:prstGeom prst="roundRect">
            <a:avLst/>
          </a:prstGeom>
          <a:solidFill>
            <a:srgbClr val="F8F9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400" b="1">
                <a:solidFill>
                  <a:srgbClr val="102542"/>
                </a:solidFill>
              </a:defRPr>
            </a:pPr>
            <a:r>
              <a:t>3. Digital Twin &amp; Deployment</a:t>
            </a:r>
          </a:p>
          <a:p>
            <a:br/>
            <a:pPr>
              <a:defRPr sz="1050">
                <a:solidFill>
                  <a:srgbClr val="212529"/>
                </a:solidFill>
              </a:defRPr>
            </a:pPr>
            <a:r>
              <a:t>• Real-Time Monitoring: The lightweight 4-component PCR model can run in real-time on edge turbine PLCs for anomaly detection.</a:t>
            </a:r>
            <a:br/>
            <a:r>
              <a:t>• Sensor Redundancy: High collinearity allows synthetic sensor estimation if a pressure transducer fails in operation.</a:t>
            </a:r>
            <a:br/>
            <a:r>
              <a:t>• Regulatory Compliance: Predictive emission models enable preemptive flue gas compliance adjustments.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542"/>
          </a:solidFill>
          <a:ln>
            <a:solidFill>
              <a:srgbClr val="102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Thank You!</a:t>
            </a:r>
          </a:p>
          <a:p>
            <a:pPr>
              <a:defRPr sz="2200">
                <a:solidFill>
                  <a:srgbClr val="B4D7EB"/>
                </a:solidFill>
              </a:defRPr>
            </a:pPr>
            <a:r>
              <a:t>Questions &amp; Technical Discussion</a:t>
            </a:r>
            <a:br/>
          </a:p>
          <a:p>
            <a:pPr>
              <a:defRPr sz="1300">
                <a:solidFill>
                  <a:srgbClr val="D2E1F0"/>
                </a:solidFill>
              </a:defRPr>
            </a:pPr>
            <a:r>
              <a:t>• Supplementary Material: Full Python Jupyter Notebook (gas_turbine_analysis.ipynb)</a:t>
            </a:r>
            <a:br/>
            <a:r>
              <a:t>• Dataset: 36,733 hourly records across 2011–2015 (Turkey Gas Turbine)</a:t>
            </a:r>
            <a:br/>
            <a:r>
              <a:t>• All methods strictly conform to the Data Analytics course syllabus.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