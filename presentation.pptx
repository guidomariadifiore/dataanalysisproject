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10362895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600" b="1">
                <a:solidFill>
                  <a:srgbClr val="FFFFFF"/>
                </a:solidFill>
              </a:defRPr>
            </a:pPr>
            <a:r>
              <a:t>Data Analytics &amp; Predictive Modeling</a:t>
            </a:r>
          </a:p>
          <a:p>
            <a:pPr>
              <a:defRPr sz="2200">
                <a:solidFill>
                  <a:srgbClr val="B4CDEB"/>
                </a:solidFill>
              </a:defRPr>
            </a:pPr>
            <a:r>
              <a:t>Flue Gas Emissions (CO, NOx) and Energy Yield in Gas Turbines</a:t>
            </a:r>
          </a:p>
          <a:p>
            <a:br/>
            <a:pPr>
              <a:defRPr sz="1400">
                <a:solidFill>
                  <a:srgbClr val="C8D7E6"/>
                </a:solidFill>
              </a:defRPr>
            </a:pPr>
            <a:r>
              <a:t>Course: Data Analytics (and Data Driven Decision) — University of L'Aquila</a:t>
            </a:r>
            <a:br/>
            <a:r>
              <a:t>Based on Course Methodologies and 2011–2015 Hourly Sensor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Project Workflow &amp; Guidelines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Description of Dataset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Data origin, 11 sensor variables, 36,733 hourly observations, train/test split protocol.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Data Cleaning &amp; Validation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Verification of missing values, range validation, physical plausibility check, standard scaling.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Exploratory Data Analysis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Descriptive statistics, distribution shapes, correlation heatmaps, environmental impact.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507492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4. Main Analysis &amp; Methods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Techniques aligned with course lectures: Dimensionality Reduction, Regression, Diagnostics.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37160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5. Preview of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High-level summary of model performance, key feature importances, emission trade-offs.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60604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6. Detailed Results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In-depth metric breakdown (R², RMSE, residuals), cross-validation across 2011–2015.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840480"/>
            <a:ext cx="5212080" cy="109728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7. Conclusions</a:t>
            </a:r>
          </a:p>
          <a:p>
            <a:pPr>
              <a:defRPr sz="1100">
                <a:solidFill>
                  <a:srgbClr val="212529"/>
                </a:solidFill>
              </a:defRPr>
            </a:pPr>
            <a:r>
              <a:t>Industrial takeaways, operational recommendations, turbine emission control strategies.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1. Description of the Dataset &amp; Sensor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657600" cy="50292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228600"/>
          <a:lstStyle/>
          <a:p>
            <a:pPr algn="ctr">
              <a:defRPr sz="1600" b="1">
                <a:solidFill>
                  <a:srgbClr val="102542"/>
                </a:solidFill>
              </a:defRPr>
            </a:pPr>
            <a:r>
              <a:t>Dataset Characteristics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Location: Gas turbine plant in NW Turkey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Timeframe: 2011 – 2015 (5 consecutive years)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Granularity: Hourly aggregated averages/sums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Observations: 36,733 instances (sorted in time)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Missing Values: 0 (Complete sensor records)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Data Protocol: Train: 2011-13 (60.4%)</a:t>
            </a:r>
            <a:br/>
            <a:r>
              <a:t>Test: 2014-15 (39.6%)</a:t>
            </a:r>
          </a:p>
          <a:p>
            <a:pPr>
              <a:defRPr sz="1200">
                <a:solidFill>
                  <a:srgbClr val="212529"/>
                </a:solidFill>
              </a:defRPr>
            </a:pPr>
            <a:r>
              <a:t>• Key Targets: Emissions (CO, NOx), Energy (TEY)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663440" y="1371600"/>
          <a:ext cx="676656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005840"/>
                <a:gridCol w="914400"/>
                <a:gridCol w="3474720"/>
              </a:tblGrid>
              <a:tr h="4191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Physical Role / Meaning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Temperature (inlet air density driver)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Atmospheric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%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Ambient Relative Humidity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AFDP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Air Filter Difference Pressure (filter clogging)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GTEP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Gas Turbine Exhaust Pressure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Inlet Temperature (efficiency driver)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TAT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°C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After Temperature (exhaust)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CDP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mbar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Compressor Discharge Pressure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Yield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TEY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MWh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Turbine Energy Yield (Net power output)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Carbon Monoxide (Incomplete combustion)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Emission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NOx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mg/m³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212529"/>
                          </a:solidFill>
                        </a:defRPr>
                      </a:pPr>
                      <a:r>
                        <a:t>Nitrogen Oxides (Thermal NOx mechanism)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2. Data Cleaning, Quality Validation &amp; Preprocessing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1. Completeness &amp; Integrity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Missing Values: 0 nulls across all 11 columns.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Duplicates: 7 identical sensor rows detected and pruned.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Chronology: Preserved time order across 2011–2015.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Sensor Health: No negative pressures or invalid readings.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3891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2. σ-Clipping (Course Method)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Dispersion: $\hat{\sigma} = \frac{IQR}{1.35} = \frac{Q_3 - Q_1}{1.35}$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Robust Centering: Uses Median ($Q_2$) to resist leverage.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Boundaries: $[\text{Med} - 5\hat{\sigma},\; \text{Med} + 5\hat{\sigma}]$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Ambient/Turbine: 0 outliers (100% physically valid).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Emissions (CO/NOx): Skewed tail corresponds to true combustion events.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046720" y="1371600"/>
            <a:ext cx="3383280" cy="228600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3. Protocol &amp; Scaling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Train Set (2011–13): 22,187 samples (60.4%)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Test Set (2014–15): 14,539 samples (39.6%)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No Leakage: Fit scaler strictly on Train, transform Test.</a:t>
            </a:r>
          </a:p>
          <a:p>
            <a:pPr>
              <a:defRPr sz="1050">
                <a:solidFill>
                  <a:srgbClr val="212529"/>
                </a:solidFill>
              </a:defRPr>
            </a:pPr>
            <a:r>
              <a:t>• Z-Score Standardization: $z = \frac{x - \mu_{train}}{\sigma_{train}}$ for PCA &amp; Regression.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3931920"/>
          <a:ext cx="1069848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3080"/>
                <a:gridCol w="1783080"/>
                <a:gridCol w="1783080"/>
                <a:gridCol w="1783080"/>
                <a:gridCol w="1783080"/>
                <a:gridCol w="1783080"/>
              </a:tblGrid>
              <a:tr h="352697"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Variable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Median (Q2)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IQR (Q3 - Q1)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Est. σ̂ (IQR/1.35)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Valid Interval [Med ± 5σ̂]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Physical Assessment</a:t>
                      </a:r>
                    </a:p>
                  </a:txBody>
                  <a:tcPr>
                    <a:solidFill>
                      <a:srgbClr val="102542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17.80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11.88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8.80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[-26.21, 61.82]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(Physical weather)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AP (mbar)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1012.60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8.20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6.07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[982.23, 1042.97]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(Barometric band)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TIT (°C)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1085.90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25.20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18.67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[992.57, 1179.23]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(Firing regime)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TEY (MWh)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133.73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19.63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14.54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[61.03, 206.43]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0 outliers (Generator range)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CO (mg/m³)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1.71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1.66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1.23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[-4.44, 7.86]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Spikes = Incomplete combustion</a:t>
                      </a:r>
                    </a:p>
                  </a:txBody>
                  <a:tcPr>
                    <a:solidFill>
                      <a:srgbClr val="F8F9FA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NOx (mg/m³)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63.85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14.39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10.66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[10.57, 117.13]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212529"/>
                          </a:solidFill>
                        </a:defRPr>
                      </a:pPr>
                      <a:r>
                        <a:t>Peaks = High flame temp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Distributions &amp; Correlation Structure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Course Definition &amp; Statistical Synthesis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Exploratory Analysis (Slide 3 &amp; 10):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Unsupervised synthesis of distributions into Size (Mean $\mu$, Median) and Spread (Variance $\sigma^2$, IQR, Gini $G$, Entropy $H$).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Size vs Spread Synthesis: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Mean vs Median: CO mean (2.21) &gt;&gt; median (1.52) demonstrates strong positive skew.</a:t>
            </a:r>
            <a:br/>
            <a:r>
              <a:t>• Gini Index: CO exhibits high concentration (G=0.442) due to episodic spikes.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Key Pearson Correlation ($r_{XY}$) Findings: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Compressor &amp; Energy Coupling: CDP &amp; TEY ($r = 0.99$), GTEP &amp; TEY ($r = 0.98$) indicate strong collinearity in operating load.</a:t>
            </a:r>
            <a:br/>
            <a:r>
              <a:t>• Environmental Cooling Effect: Ambient Temp AT vs TEY ($r = -0.58$) due to reduced air density at higher temperatures.</a:t>
            </a:r>
            <a:br/>
            <a:r>
              <a:t>• Combustion Trade-off: CO vs NOx ($r = -0.37$) reflects the physical inverse relationship between complete oxidation and thermal NOx.</a:t>
            </a:r>
          </a:p>
        </p:txBody>
      </p:sp>
      <p:pic>
        <p:nvPicPr>
          <p:cNvPr id="4" name="Picture 3" descr="eda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418698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0"/>
          </a:xfrm>
          <a:prstGeom prst="rect">
            <a:avLst/>
          </a:prstGeom>
          <a:solidFill>
            <a:srgbClr val="102542"/>
          </a:solidFill>
          <a:ln>
            <a:solidFill>
              <a:srgbClr val="1025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0" tIns="137160"/>
          <a:lstStyle/>
          <a:p>
            <a:pPr algn="ctr">
              <a:defRPr sz="1100" b="1">
                <a:solidFill>
                  <a:srgbClr val="B4CDEB"/>
                </a:solidFill>
              </a:defRPr>
            </a:pPr>
            <a:r>
              <a:t>DATA ANALYTICS PROJECT WORK</a:t>
            </a:r>
          </a:p>
          <a:p>
            <a:pPr>
              <a:defRPr sz="2200" b="1">
                <a:solidFill>
                  <a:srgbClr val="FFFFFF"/>
                </a:solidFill>
              </a:defRPr>
            </a:pPr>
            <a:r>
              <a:t>3. Exploratory Analysis: PCA Dimensionality Reduction &amp; Biplot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120640" cy="5120640"/>
          </a:xfrm>
          <a:prstGeom prst="roundRect">
            <a:avLst/>
          </a:prstGeom>
          <a:solidFill>
            <a:srgbClr val="F8F9FA"/>
          </a:solidFill>
          <a:ln>
            <a:solidFill>
              <a:srgbClr val="D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82880"/>
          <a:lstStyle/>
          <a:p>
            <a:pPr algn="ctr">
              <a:defRPr sz="1400" b="1">
                <a:solidFill>
                  <a:srgbClr val="102542"/>
                </a:solidFill>
              </a:defRPr>
            </a:pPr>
            <a:r>
              <a:t>PCA as an Exploratory Technique (Slide 70)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Course Formulation (Slide 75):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Eigen-decomposition of Covariance Matrix $C v_i = \lambda_i v_i$.</a:t>
            </a:r>
            <a:br/>
            <a:r>
              <a:t>Proportion of Variance Explained: $\text{PVE}_i = \lambda_i / \sum \lambda_j$.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Dimensionality Reduction Results: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• PC1 (48.28%): Captures general turbine thermodynamic load (high loadings for CDP, TEY, GTEP, TIT).</a:t>
            </a:r>
            <a:br/>
            <a:r>
              <a:t>• PC2 (20.48%): Captures ambient temperature (AT) and the inverse CO vs NOx combustion trade-off.</a:t>
            </a:r>
            <a:br/>
            <a:r>
              <a:t>• First 2 PCs capture 68.76% of total system variance.</a:t>
            </a:r>
            <a:br/>
            <a:r>
              <a:t>• First 5 PCs capture 92.02% (Scree plot elbow at $p=5$).</a:t>
            </a:r>
          </a:p>
          <a:p>
            <a:br/>
            <a:pPr>
              <a:defRPr b="1" sz="1100">
                <a:solidFill>
                  <a:srgbClr val="296299"/>
                </a:solidFill>
              </a:defRPr>
            </a:pPr>
            <a:r>
              <a:t>Industrial Takeaway:</a:t>
            </a:r>
          </a:p>
          <a:p>
            <a:pPr>
              <a:defRPr sz="1000">
                <a:solidFill>
                  <a:srgbClr val="212529"/>
                </a:solidFill>
              </a:defRPr>
            </a:pPr>
            <a:r>
              <a:t>The 11 physical sensors effectively lie on a 2-to-5 dimensional manifold governed by ambient weather and power dispatch.</a:t>
            </a:r>
          </a:p>
        </p:txBody>
      </p:sp>
      <p:pic>
        <p:nvPicPr>
          <p:cNvPr id="4" name="Picture 3" descr="eda_pca_bi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280160"/>
            <a:ext cx="5303520" cy="383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