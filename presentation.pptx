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Median) and Spread (Variance $\sigma^2$,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2-to-5 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Main Analysis: Objectives &amp; Methodological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sensor telemetry.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5 PCs ($Z = X V_p$) to eliminate variance inflation and ensure parameter stability.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Quantify pollutant generation as a function of firing state.</a:t>
            </a:r>
            <a:br/>
            <a:r>
              <a:t>• Method: Polynomial Regression (Slide 116 &amp; Ex 4.1) for CO to capture steep non-linear spikes during low-load/startup regimes ($x \to [x, x^2]$).</a:t>
            </a:r>
            <a:br/>
            <a:r>
              <a:t>• Multivariate OLS for NOx tracking thermal oxidation.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106) | Principal Component Regression: $\hat{\beta}_{PCR} = (Z^T Z)^{-1} Z^T y$</a:t>
            </a:r>
            <a:br/>
            <a:r>
              <a:t>• Accuracy Metrics: $R^2 = 1 - \frac{RSS}{TSS}$ (Slide 108), $\text{RMSE} = \sqrt{\frac{1}{m}\sum (y_i - \hat{y}_i)^2}$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Preview &amp; High-Level Summary of the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2179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Model &amp; Objective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Train R²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R²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MAE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Ambient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0.1133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-0.1407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15.99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12.87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Full OLS (8 Feat.)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0.9501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3.35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3.18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PCR (5 Components)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0.9946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0.9828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1.96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1.62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CO: Linear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0.5728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1.67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1.11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CO: Polynomial (Deg. 2)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0.6439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0.4546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1.62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1.14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NOx: Multivariate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-1.0928*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15.30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13.85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223760" y="1371600"/>
            <a:ext cx="420624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102542"/>
                </a:solidFill>
              </a:defRPr>
            </a:pPr>
            <a:r>
              <a:t>Key Results Highlights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1. PCR Solves Multicollinearity: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PCR achieves Test R² = 0.9828 with RMSE of 1.96 MWh (41.4% error reduction vs full OLS) by projecting collinear turbine pressures into orthogonal coordinates.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2. Ambient-Only Baseline Fails: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Ambient inputs alone yield negative out-of-sample R² (-0.14), proving internal thermodynamic telemetry is indispensable.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3. Non-linear CO Emissions: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Polynomial degree 2 expansion captures steep low-load incomplete combustion spikes, increasing Train R² to 0.6439.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4. NOx Domain Shift (*):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Negative Test R² for NOx reveals a physical process shift in 2014-15 (burner recalibration lowering baseline emissions from 68 to 58 mg/m³).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Energy Yield (TEY) &amp; PCR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TEY Model Diagnostics &amp; Residuals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Out-of-Sample Generalization: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PCR (5 Components) maintains excellent stability across all test years:</a:t>
            </a:r>
            <a:br/>
            <a:r>
              <a:t>  - 2014 R² = 0.985 (RMSE = 1.84 MWh)</a:t>
            </a:r>
            <a:br/>
            <a:r>
              <a:t>  - 2015 R² = 0.982 (RMSE = 2.07 MWh)</a:t>
            </a:r>
            <a:br/>
            <a:r>
              <a:t>• Full OLS suffers parameter instability (2014 R² drops to 0.935).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Residual Analysis (Slide 104, 108):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Residuals $e_i = y_i - \hat{y}_i$ for PCR are strictly zero-centered (Mean = 0.04 MWh) with symmetric Gaussian distribution.</a:t>
            </a:r>
            <a:br/>
            <a:r>
              <a:t>• Constant variance (homoscedasticity) across the entire operating range (100 to 180 MWh).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Standard Errors (Slide 111):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All 5 Principal Component coefficients $\hat{\beta}$ are statistically significant ($p &lt; 0.001$, confidence intervals strictly exclude 0).</a:t>
            </a:r>
          </a:p>
        </p:txBody>
      </p:sp>
      <p:pic>
        <p:nvPicPr>
          <p:cNvPr id="4" name="Picture 3" descr="results_residuals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Emissions Modeling &amp; Operational Regimes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Emissions Modeling &amp; K-Means Clusters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 Polynomial Enhancement (Slide 116):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Adding quadratic terms $\text{TIT}^2, \text{TAT}^2, \text{CDP}^2$ boosts Train R² from 0.5728 to 0.6439.</a:t>
            </a:r>
            <a:br/>
            <a:r>
              <a:t>• Captures the non-linear inflection where combustion transitions from incomplete (high CO) to clean.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Operational Regimes Profile (K=3):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Peak Load (4,887 hrs): $\text{TEY}=157.0$ MWh, $\text{TIT}=1100^\circ\text{C} \implies \text{CO}=1.00$ mg/m³.</a:t>
            </a:r>
            <a:br/>
            <a:r>
              <a:t>• Part-Load (5,443 hrs): $\text{TEY}=111.8$ MWh, $\text{TIT}=1056^\circ\text{C} \implies \text{CO}=4.79$ mg/m³ (4.8x higher!).</a:t>
            </a:r>
            <a:br/>
            <a:r>
              <a:t>• Baseload (11,861 hrs): $\text{TEY}=133.9$ MWh, $\text{TIT}=1089^\circ\text{C} \implies \text{CO}=1.53$ mg/m³.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Implication: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Part-load operation is the major driver of CO emissions. Minimizing low-firing transitional hours maximizes environmental efficiency.</a:t>
            </a:r>
          </a:p>
        </p:txBody>
      </p:sp>
      <p:pic>
        <p:nvPicPr>
          <p:cNvPr id="4" name="Picture 3" descr="results_kmeans_regime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20835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Conclusions &amp; Engineering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Methodological Justifications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Multicollinearity: VIF &gt; 250 proved that raw sensor OLS is unstable. PCR with 5 orthogonal components achieved optimal generalization (Test R² = 0.9828).</a:t>
            </a:r>
            <a:br/>
            <a:r>
              <a:t>• Non-linear Physics: CO combustion follows non-linear thermal kinetics; degree-2 polynomial expansion resolved the inflection point.</a:t>
            </a:r>
            <a:br/>
            <a:r>
              <a:t>• Unsupervised Regimes: K-Means (K=3) confirmed distinct thermodynamic regimes without labeled training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Operational Emission Control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Avoid Low Firing Regimes: Part-load operation below 1070°C firing produces 4.8x higher CO emissions.</a:t>
            </a:r>
            <a:br/>
            <a:r>
              <a:t>• Peak Load Cleanliness: Operating at peak load (TIT ~1100°C) maximizes power yield (157 MWh) and minimizes CO (1.0 mg/m³).</a:t>
            </a:r>
            <a:br/>
            <a:r>
              <a:t>• Ambient Weather Compensation: Ambient temperature penalizes turbine yield (-0.58 correlation), justifying inlet air chilling systems during summer.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Digital Twin &amp; Deployment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Real-Time Monitoring: The lightweight 5-component PCR model can run in real-time on edge turbine PLCs for anomaly detection.</a:t>
            </a:r>
            <a:br/>
            <a:r>
              <a:t>• Sensor Redundancy: High collinearity allows synthetic sensor estimation if a pressure transducer fails in operation.</a:t>
            </a:r>
            <a:br/>
            <a:r>
              <a:t>• Regulatory Compliance: Predictive emission models enable preemptive flue gas compliance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Questions &amp; Technical Discussion</a:t>
            </a:r>
            <a:br/>
          </a:p>
          <a:p>
            <a:pPr>
              <a:defRPr sz="1300">
                <a:solidFill>
                  <a:srgbClr val="D2E1F0"/>
                </a:solidFill>
              </a:defRPr>
            </a:pPr>
            <a:r>
              <a:t>• Supplementary Material: Full Python Jupyter Notebook (gas_turbine_analysis.ipynb)</a:t>
            </a:r>
            <a:br/>
            <a:r>
              <a:t>• Dataset: 36,733 hourly records across 2011–2015 (Turkey Gas Turbine)</a:t>
            </a:r>
            <a:br/>
            <a:r>
              <a:t>• All methods strictly conform to the Data Analytics course syllabus.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