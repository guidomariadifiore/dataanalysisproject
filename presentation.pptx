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D7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Multi-Year Hourly Telemetry (36,733 records) and Course Methodologies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METHODOLOGICAL ROADMAP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1: DATASET PROFILING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1: DATA PREPARATION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identical sensor rows detected and pruned.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Sensor Health: No negative pressures or invalid readings.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Emissions (CO/NOx): Skewed tail corresponds to true combustion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22,187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14,539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Z-Score Standardization: $z = \frac{x - \mu_{train}}{\sigma_{train}}$ for PCA &amp; Regression.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[-26.21,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7.86]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2: EXPLORATORY DATA ANALYSIS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Course Definition &amp; Statistical Synthesis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Unsupervised synthesis of distributions into Size (Mean $\mu$, Median) and Spread (Variance $\sigma^2$, IQR, Gini $G$, Entropy $H$).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Mean vs Median: CO mean (2.21) &gt;&gt; median (1.52) demonstrates strong positive skew.</a:t>
            </a:r>
            <a:br/>
            <a:r>
              <a:t>• Gini Index: CO exhibits high concentration (G=0.442) due to episodic spikes.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Compressor &amp; Energy Coupling: CDP &amp; TEY ($r = 0.99$), GTEP &amp; TEY ($r = 0.98$) indicate strong collinearity in operating load.</a:t>
            </a:r>
            <a:br/>
            <a:r>
              <a:t>• Environmental Cooling Effect: Ambient Temp AT vs TEY ($r = -0.58$) due to reduced air density at higher temperatures.</a:t>
            </a:r>
            <a:br/>
            <a:r>
              <a:t>• Combustion Trade-off: CO vs NOx ($r = -0.37$) reflects the physical inverse relationship between complete oxidation and thermal NOx.</a:t>
            </a:r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2: UNSUPERVISED PCA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PCA as an Exploratory Technique (Slide 70)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Eigen-decomposition of Covariance Matrix $C v_i = \lambda_i v_i$.</a:t>
            </a:r>
            <a:br/>
            <a:r>
              <a:t>Proportion of Variance Explained: $\text{PVE}_i = \lambda_i / \sum \lambda_j$.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PC1 (48.28%): Captures general turbine thermodynamic load (high loadings for CDP, TEY, GTEP, TIT).</a:t>
            </a:r>
            <a:br/>
            <a:r>
              <a:t>• PC2 (20.48%): Captures ambient temperature (AT) and the inverse CO vs NOx combustion trade-off.</a:t>
            </a:r>
            <a:br/>
            <a:r>
              <a:t>• First 2 PCs capture 68.76% of total system variance.</a:t>
            </a:r>
            <a:br/>
            <a:r>
              <a:t>• First 5 PCs capture 92.02% (Scree plot elbow at $p=5$).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The 11 physical sensors effectively lie on a 2-to-5 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3: METHODOLOGICAL FRAMEWORK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Main Analysis: Objectives &amp; Methodological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1: Energy Yield (TEY) &amp; PCR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Predict net turbine energy yield from sensor telemetry.</a:t>
            </a:r>
            <a:br/>
            <a:r>
              <a:t>• Problem: Extreme Multicollinearity (VIF &gt; 250 for CDP, TIT, GTEP, Slide 115).</a:t>
            </a:r>
            <a:br/>
            <a:r>
              <a:t>• Method: Principal Component Regression (PCR, Slides 70, 106) on 5 PCs ($Z = X V_p$) to eliminate variance inflation and ensure parameter stability.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2: Emissions Modeling (CO &amp; NOx)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Quantify pollutant generation as a function of firing state.</a:t>
            </a:r>
            <a:br/>
            <a:r>
              <a:t>• Method: Polynomial Regression (Slide 116 &amp; Ex 4.1) for CO to capture steep non-linear spikes during low-load/startup regimes ($x \to [x, x^2]$).</a:t>
            </a:r>
            <a:br/>
            <a:r>
              <a:t>• Multivariate OLS for NOx tracking thermal oxidation.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3: Operational Regimes (K-Means)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Discover discrete turbine operational regimes (Unsupervised).</a:t>
            </a:r>
            <a:br/>
            <a:r>
              <a:t>• Method: K-Means Clustering (Slides 90-91) with Silhouette validation (Slide 94, Ex 3.1): $\text{SIL} = \frac{1}{m}\sum \frac{b_i - a_i}{\max(a_i, b_i)}$.</a:t>
            </a:r>
            <a:br/>
            <a:r>
              <a:t>• Identifies Base-load, Peak-load, and Low-load emission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698480" cy="19202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Mathematical Formulations &amp; Accuracy Metrics (Course Standards)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Ordinary Least Squares: $\hat{\beta} = (X^T X)^{-1} X^T y$ (Slide 106) | Principal Component Regression: $\hat{\beta}_{PCR} = (Z^T Z)^{-1} Z^T y$</a:t>
            </a:r>
            <a:br/>
            <a:r>
              <a:t>• Accuracy Metrics: $R^2 = 1 - \frac{RSS}{TSS}$ (Slide 108), $\text{RMSE} = \sqrt{\frac{1}{m}\sum (y_i - \hat{y}_i)^2}$</a:t>
            </a:r>
            <a:br/>
            <a:r>
              <a:t>• Multicollinearity VIF: $\text{VIF}(\hat{\beta}_j) = \frac{1}{1 - R^2_{x_j|x_{-j}}}$ (Slide 115) | Silhouette Quality: $\text{SIL}_i = \frac{b_i - a_i}{\max(a_i, b_i)}$ (Slide 94)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RESULTS SYNTHESIS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Preview &amp; High-Level Summary of the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2514600" cy="1463040"/>
          </a:xfrm>
          <a:prstGeom prst="roundRect">
            <a:avLst/>
          </a:prstGeom>
          <a:solidFill>
            <a:srgbClr val="EBF7EE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28A745"/>
                </a:solidFill>
              </a:defRPr>
            </a:pPr>
            <a:r>
              <a:t>98.3%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Best Test Accuracy (R²)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Principal Component Regression (PCR)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1.96 MWh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Out-of-Sample RMSE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Precise energy yield estimation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-41.4%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Error Reduction vs OLS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Multicollinearity elimination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3 Regimes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Operational Clusters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Peak, Baseload &amp; Part-Load (K-Means)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92608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4963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Model &amp; Objective Target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Train R² (2011–13)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R² (2014–15)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MAE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TEY: Ambient Baseline (AT, AP, AH)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0.1133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-0.1407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15.996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12.868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TEY: Full Multivariate OLS (8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0.9977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0.9501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3.346 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3.176 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TEY: PCR (5 Principal Components)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0.9946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0.9828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1.963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1.618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CO: Linear Multivariate 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0.5728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0.4195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1.668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1.110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CO: Polynomial (Degree 2, Slide 116)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0.6439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0.4546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1.617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1.138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NOx: Multivariate 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0.4536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-1.0928*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15.301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13.851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IN-DEPTH MODEL EVALUATION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Energy Yield (TEY) &amp; PCR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TEY Model Diagnostics &amp; Residuals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Out-of-Sample Generalization: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PCR (5 Components) maintains excellent stability across all test years:</a:t>
            </a:r>
            <a:br/>
            <a:r>
              <a:t>  - 2014 R² = 0.985 (RMSE = 1.84 MWh)</a:t>
            </a:r>
            <a:br/>
            <a:r>
              <a:t>  - 2015 R² = 0.982 (RMSE = 2.07 MWh)</a:t>
            </a:r>
            <a:br/>
            <a:r>
              <a:t>• Full OLS suffers parameter instability (2014 R² drops to 0.935).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Residual Analysis (Slide 104, 108):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Residuals $e_i = y_i - \hat{y}_i$ for PCR are strictly zero-centered (Mean = 0.04 MWh) with symmetric Gaussian distribution.</a:t>
            </a:r>
            <a:br/>
            <a:r>
              <a:t>• Constant variance (homoscedasticity) across the entire operating range (100 to 180 MWh).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Standard Errors (Slide 111):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All 5 Principal Component coefficients $\hat{\beta}$ are statistically significant ($p &lt; 0.001$, confidence intervals strictly exclude 0).</a:t>
            </a:r>
          </a:p>
        </p:txBody>
      </p:sp>
      <p:pic>
        <p:nvPicPr>
          <p:cNvPr id="4" name="Picture 3" descr="results_residuals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IN-DEPTH MODEL EVALUATION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Emissions Modeling &amp; Operational Regimes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Emissions Modeling &amp; K-Means Clusters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 Polynomial Enhancement (Slide 116):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Adding quadratic terms $\text{TIT}^2, \text{TAT}^2, \text{CDP}^2$ boosts Train R² from 0.5728 to 0.6439.</a:t>
            </a:r>
            <a:br/>
            <a:r>
              <a:t>• Captures the non-linear inflection where combustion transitions from incomplete (high CO) to clean.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Operational Regimes Profile (K=3):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Peak Load (4,887 hrs): $\text{TEY}=157.0$ MWh, $\text{TIT}=1100^\circ\text{C} \implies \text{CO}=1.00$ mg/m³.</a:t>
            </a:r>
            <a:br/>
            <a:r>
              <a:t>• Part-Load (5,443 hrs): $\text{TEY}=111.8$ MWh, $\text{TIT}=1056^\circ\text{C} \implies \text{CO}=4.79$ mg/m³ (4.8x higher!).</a:t>
            </a:r>
            <a:br/>
            <a:r>
              <a:t>• Baseload (11,861 hrs): $\text{TEY}=133.9$ MWh, $\text{TIT}=1089^\circ\text{C} \implies \text{CO}=1.53$ mg/m³.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Implication: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Part-load operation is the major driver of CO emissions. Minimizing low-firing transitional hours maximizes environmental efficiency.</a:t>
            </a:r>
          </a:p>
        </p:txBody>
      </p:sp>
      <p:pic>
        <p:nvPicPr>
          <p:cNvPr id="4" name="Picture 3" descr="results_kmeans_regime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20835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5: STRATEGIC INSIGHTS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Conclusions &amp; Engineering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Methodological Justifications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Multicollinearity: VIF &gt; 250 proved that raw sensor OLS is unstable. PCR with 5 orthogonal components achieved optimal generalization (Test R² = 0.9828).</a:t>
            </a:r>
            <a:br/>
            <a:r>
              <a:t>• Non-linear Physics: CO combustion follows non-linear thermal kinetics; degree-2 polynomial expansion resolved the inflection point.</a:t>
            </a:r>
            <a:br/>
            <a:r>
              <a:t>• Unsupervised Regimes: K-Means (K=3) confirmed distinct thermodynamic regimes without labeled training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Operational Emission Control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Avoid Low Firing Regimes: Part-load operation below 1070°C firing produces 4.8x higher CO emissions.</a:t>
            </a:r>
            <a:br/>
            <a:r>
              <a:t>• Peak Load Cleanliness: Operating at peak load (TIT ~1100°C) maximizes power yield (157 MWh) and minimizes CO (1.0 mg/m³).</a:t>
            </a:r>
            <a:br/>
            <a:r>
              <a:t>• Ambient Weather Compensation: Ambient temperature penalizes turbine yield (-0.58 correlation), justifying inlet air chilling systems during summer.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Digital Twin &amp; Deployment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Real-Time Monitoring: The lightweight 5-component PCR model can run in real-time on edge turbine PLCs for anomaly detection.</a:t>
            </a:r>
            <a:br/>
            <a:r>
              <a:t>• Sensor Redundancy: High collinearity allows synthetic sensor estimation if a pressure transducer fails in operation.</a:t>
            </a:r>
            <a:br/>
            <a:r>
              <a:t>• Regulatory Compliance: Predictive emission models enable preemptive flue gas compliance adjustments.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2200">
                <a:solidFill>
                  <a:srgbClr val="B4D7EB"/>
                </a:solidFill>
              </a:defRPr>
            </a:pPr>
            <a:r>
              <a:t>Questions &amp; Technical Discussion</a:t>
            </a:r>
            <a:br/>
          </a:p>
          <a:p>
            <a:pPr>
              <a:defRPr sz="1300">
                <a:solidFill>
                  <a:srgbClr val="D2E1F0"/>
                </a:solidFill>
              </a:defRPr>
            </a:pPr>
            <a:r>
              <a:t>• Supplementary Material: Full Python Jupyter Notebook (gas_turbine_analysis.ipynb)</a:t>
            </a:r>
            <a:br/>
            <a:r>
              <a:t>• Dataset: 36,733 hourly records across 2011–2015 (Turkey Gas Turbine)</a:t>
            </a:r>
            <a:br/>
            <a:r>
              <a:t>• All methods strictly conform to the Data Analytics course syllabus.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