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Multi-Year Hourly Telemetry (36,733 records) and Course Methodologies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METHODOLOGICAL ROADMAP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DATASET PROFILING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(22,191 samples, 60.4%)</a:t>
            </a:r>
            <a:br/>
            <a:r>
              <a:t>Test: 2014-15 (14,535 samples, 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1: DATA PREPARATION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sensor-profile duplicates pruned (36,726 clean rows).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Sanity Checks: Range verified for positive pressures &amp; valid temps.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Inspection Only: Extreme values retained as real transient conditions.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22,191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14,535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Target Separation: Standardized 8 predictors and 3 targets independently.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[-26.22,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7.87]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EXPLORATORY DATA ANALYSIS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Median, Mode) and Spread (Variance $\sigma^2$, Std,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2: UNSUPERVISED PCA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low-dimensional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3: METHODOLOGICAL FRAMEWORK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Main Analysis: Objectives &amp; Methodological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1: Energy Yield (TEY) &amp; PCR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Predict net turbine energy yield from 8 sensor telemetry features.</a:t>
            </a:r>
            <a:br/>
            <a:r>
              <a:t>• Problem: Extreme Multicollinearity (VIF &gt; 250 for CDP, TIT, GTEP, Slide 115).</a:t>
            </a:r>
            <a:br/>
            <a:r>
              <a:t>• Method: Principal Component Regression (PCR, Slides 70, 106) on 4 feature PCs ($Z = X_{\text{std}} V_4$, 90.76% PVE) to eliminate variance inflation and ensure numerical stability.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2: Emissions Modeling (CO &amp; NOx)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Quantify pollutant generation as a function of firing state.</a:t>
            </a:r>
            <a:br/>
            <a:r>
              <a:t>• Method: Polynomial Regression (Slide 116 &amp; Ex 4.1) for CO to capture steep non-linear spikes during low-load/startup regimes ($x \to [x, x^2]$).</a:t>
            </a:r>
            <a:br/>
            <a:r>
              <a:t>• Multivariate OLS for NOx tracking thermal oxidation.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9260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Objective 3: Operational Regimes (K-Means)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Discover discrete turbine operational regimes (Unsupervised).</a:t>
            </a:r>
            <a:br/>
            <a:r>
              <a:t>• Method: K-Means Clustering (Slides 90-91) with Silhouette validation (Slide 94, Ex 3.1): $\text{SIL} = \frac{1}{m}\sum \frac{b_i - a_i}{\max(a_i, b_i)}$.</a:t>
            </a:r>
            <a:br/>
            <a:r>
              <a:t>• Identifies Base-load, Peak-load, and Low-load emission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698480" cy="19202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defRPr sz="1300" b="1">
                <a:solidFill>
                  <a:srgbClr val="102542"/>
                </a:solidFill>
              </a:defRPr>
            </a:pPr>
            <a:r>
              <a:t>Mathematical Formulations &amp; Accuracy Metrics (Course Standards)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Ordinary Least Squares: $\hat{\beta} = (X^T X)^{-1} X^T y$ (Slide 106, computed via `np.linalg.lstsq` for numerical stability)</a:t>
            </a:r>
            <a:br/>
            <a:r>
              <a:t>• Principal Component Regression: $\hat{\beta}_{PCR} = (Z^T Z)^{-1} Z^T y$, where $Z = X_{\text{std}} V_4$ (4 PCs capturing 90.76% PVE)</a:t>
            </a:r>
            <a:br/>
            <a:r>
              <a:t>• Multicollinearity VIF: $\text{VIF}(\hat{\beta}_j) = \frac{1}{1 - R^2_{x_j|x_{-j}}}$ (Slide 115) | Silhouette Quality: $\text{SIL}_i = \frac{b_i - a_i}{\max(a_i, b_i)}$ (Slide 94)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RESULTS SYNTHESIS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Preview &amp; High-Level Summary of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2514600" cy="1463040"/>
          </a:xfrm>
          <a:prstGeom prst="roundRect">
            <a:avLst/>
          </a:prstGeom>
          <a:solidFill>
            <a:srgbClr val="EBF7EE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t>0.9501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Best TEY Test R² (OLS)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Full 8-feature multivariate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280160"/>
            <a:ext cx="2514600" cy="1463040"/>
          </a:xfrm>
          <a:prstGeom prst="roundRect">
            <a:avLst/>
          </a:prstGeom>
          <a:solidFill>
            <a:srgbClr val="EBF7EE"/>
          </a:solidFill>
          <a:ln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28A745"/>
                </a:solidFill>
              </a:defRPr>
            </a:pPr>
            <a:r>
              <a:t>0.9397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TEY PCR Test R² (4 PCs)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Collinearity-free (90.76% PVE)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0.6477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CO Train R² (Poly Deg. 2)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Captures non-linear low-load curve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514600" cy="14630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2400" b="1">
                <a:solidFill>
                  <a:srgbClr val="102542"/>
                </a:solidFill>
              </a:defRPr>
            </a:pPr>
            <a:r>
              <a:t>3 Regimes</a:t>
            </a:r>
          </a:p>
          <a:p>
            <a:pPr>
              <a:defRPr sz="1050" b="1">
                <a:solidFill>
                  <a:srgbClr val="212529"/>
                </a:solidFill>
              </a:defRPr>
            </a:pPr>
            <a:r>
              <a:t>Operational Clusters</a:t>
            </a:r>
          </a:p>
          <a:p>
            <a:pPr>
              <a:defRPr sz="900">
                <a:solidFill>
                  <a:srgbClr val="6C757D"/>
                </a:solidFill>
              </a:defRPr>
            </a:pPr>
            <a:r>
              <a:t>Peak, Baseload &amp; Part-Load (K-Means)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92608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4343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Target Variable &amp; Model Specification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Train R² (2011–13)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Train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R² (2014–15)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TEY: Full Multivariate OLS (8 Features)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0.9977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0.76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0.9501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3.35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TEY: PCR (4 Principal Components, 90.76% PVE)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0.9693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2.81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0.9397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2542"/>
                          </a:solidFill>
                        </a:defRPr>
                      </a:pPr>
                      <a:r>
                        <a:t>3.68 MWh</a:t>
                      </a:r>
                    </a:p>
                  </a:txBody>
                  <a:tcPr>
                    <a:solidFill>
                      <a:srgbClr val="EBF7E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16.03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14.98 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Polynomial (Degree 2, Slide 116)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0.6477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1.36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0.2635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1.88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2.30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-0.0333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2.23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NOx: Multivariate OLS (8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0.4536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8.16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-1.0928*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15.30 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NOx: Training-Mean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11.04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-0.6914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13.76 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Energy Yield (TEY) &amp; PCR Diagnostics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TEY Model Diagnostics &amp; Multicollinearity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Multicollinearity Diagnostics (Slide 115):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Extreme VIF scores diagnosed in operating telemetry: CDP (342.82), TIT (262.12), GTEP (260.47), TAT (133.21).</a:t>
            </a:r>
            <a:br/>
            <a:r>
              <a:t>• Predictor covariance eigen-decomposition reveals 4 PCs capture 90.76% of total feature variance.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OLS vs. PCR Tradeoff (Slides 70, 106):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Full OLS: Highest raw test accuracy (Test R² = 0.9501, RMSE = 3.35 MWh), but predictor weights suffer from severe collinear instability.</a:t>
            </a:r>
            <a:br/>
            <a:r>
              <a:t>• PCR (4 PCs): Achieves Test R² = 0.9397 (RMSE = 3.68 MWh) while projecting onto strictly orthogonal coordinates, guaranteeing stable physical interpretation.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Residual Analysis (Slides 104, 108):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Residuals $e_i = y_i - \hat{y}_i$ are zero-centered with symmetric Gaussian distribution and homoscedastic variance across the full 100–180 MWh generator span.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4: IN-DEPTH MODEL EVALUATION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6. Detailed Results: Emissions Modeling &amp; Operational Regimes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Emissions Modeling &amp; K-Means Clusters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 Polynomial Enhancement (Slide 116):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• Adding quadratic feature terms ($x \to [x, x^2]$) increases Train R² to 0.6477 (RMSE = 1.36 mg/m³).</a:t>
            </a:r>
            <a:br/>
            <a:r>
              <a:t>• Captures the non-linear inflection below 1070°C where incomplete combustion surges exponentially.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NOx Domain Shift Analysis (*):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• Negative out-of-sample Test R² (-1.0928) reflects a plant hardware/burner recalibration in 2014–15 (baseline NOx dropped from 68.8 to 58.5 mg/m³).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Operational Regimes Profile (K=3, Silhouette = 0.3023):</a:t>
            </a:r>
          </a:p>
          <a:p>
            <a:pPr>
              <a:defRPr sz="950">
                <a:solidFill>
                  <a:srgbClr val="212529"/>
                </a:solidFill>
              </a:defRPr>
            </a:pPr>
            <a:r>
              <a:t>• Peak Load (4,309 hrs): TEY = 158.2 MWh, TIT = 1100°C, CDP = 13.8 mbar $\implies$ CO = 1.00 mg/m³.</a:t>
            </a:r>
            <a:br/>
            <a:r>
              <a:t>• Nominal Load (7,820 hrs): TEY = 134.5 MWh, TIT = 1091°C, CDP = 12.2 mbar $\implies$ CO = 1.48 mg/m³.</a:t>
            </a:r>
            <a:br/>
            <a:r>
              <a:t>• Part Load (10,062 hrs): TEY = 122.3 MWh, TIT = 1070°C, CDP = 11.2 mbar $\implies$ CO = 3.30 mg/m³ (3.3x higher!).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D7EB"/>
                </a:solidFill>
              </a:defRPr>
            </a:pPr>
            <a:r>
              <a:t>PHASE 5: STRATEGIC INSIGHTS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7. Conclusions &amp; Engineering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Methodological Justifications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Multicollinearity: VIF &gt; 250 proved that raw sensor telemetry is collinear. PCR on 4 orthogonal components captured 90.76% of variance, ensuring parameter stability.</a:t>
            </a:r>
            <a:br/>
            <a:r>
              <a:t>• Non-linear Physics: CO follows non-linear thermal oxidation kinetics; degree-2 polynomial expansion resolved the inflection point.</a:t>
            </a:r>
            <a:br/>
            <a:r>
              <a:t>• Unsupervised Regimes: K-Means (K=3) partitioned turbine operations into distinct thermodynamic states.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Operational Emission Control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Avoid Low Firing Regimes: Part-load operation below 1070°C firing produces 3.3x higher CO emissions.</a:t>
            </a:r>
            <a:br/>
            <a:r>
              <a:t>• Peak Load Cleanliness: Operating at peak load (TIT ~1100°C) maximizes power yield (158.2 MWh) and minimizes CO (1.0 mg/m³).</a:t>
            </a:r>
            <a:br/>
            <a:r>
              <a:t>• Ambient Weather Compensation: Ambient temperature penalizes turbine yield (-0.58 correlation), justifying inlet air chilling systems during summer.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Digital Twin &amp; Deployment</a:t>
            </a:r>
          </a:p>
          <a:p>
            <a:br/>
            <a:pPr>
              <a:defRPr sz="1050">
                <a:solidFill>
                  <a:srgbClr val="212529"/>
                </a:solidFill>
              </a:defRPr>
            </a:pPr>
            <a:r>
              <a:t>• Real-Time Monitoring: The lightweight 4-component PCR model can run in real-time on edge turbine PLCs for anomaly detection.</a:t>
            </a:r>
            <a:br/>
            <a:r>
              <a:t>• Sensor Redundancy: High collinearity allows synthetic sensor estimation if a pressure transducer fails in operation.</a:t>
            </a:r>
            <a:br/>
            <a:r>
              <a:t>• Regulatory Compliance: Predictive emission models enable preemptive flue gas compliance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2200">
                <a:solidFill>
                  <a:srgbClr val="B4D7EB"/>
                </a:solidFill>
              </a:defRPr>
            </a:pPr>
            <a:r>
              <a:t>Questions &amp; Technical Discussion</a:t>
            </a:r>
            <a:br/>
          </a:p>
          <a:p>
            <a:pPr>
              <a:defRPr sz="1300">
                <a:solidFill>
                  <a:srgbClr val="D2E1F0"/>
                </a:solidFill>
              </a:defRPr>
            </a:pPr>
            <a:r>
              <a:t>• Supplementary Material: Full Python Jupyter Notebook (gas_turbine_analysis.ipynb)</a:t>
            </a:r>
            <a:br/>
            <a:r>
              <a:t>• Dataset: 36,733 hourly records across 2011–2015 (Turkey Gas Turbine)</a:t>
            </a:r>
            <a:br/>
            <a:r>
              <a:t>• All methods strictly conform to the Data Analytics course syllabus.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