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2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 Analytics &amp; Predictive Modeling</a:t>
            </a:r>
          </a:p>
          <a:p>
            <a:pPr>
              <a:defRPr sz="2200">
                <a:solidFill>
                  <a:srgbClr val="B4D7EB"/>
                </a:solidFill>
              </a:defRPr>
            </a:pPr>
            <a:r>
              <a:t>Flue Gas Emissions (CO, NOx) and Energy Yield in Gas Turbines</a:t>
            </a:r>
          </a:p>
          <a:p>
            <a:br/>
            <a:r>
              <a:t>Course: Data Analytics (and Data Driven Decision) — University of L'Aquila</a:t>
            </a:r>
            <a:br/>
            <a:r>
              <a:t>Based on Multi-Year Hourly Telemetry (36,733 records) and Course Methodologies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542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100" b="1">
                <a:solidFill>
                  <a:srgbClr val="B4D7EB"/>
                </a:solidFill>
              </a:defRPr>
            </a:pPr>
            <a:r>
              <a:t>METHODOLOGICAL ROADMAP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Project Workflow &amp; Guidelines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1. Description of Dataset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Data origin, 11 sensor variables, 36,733 hourly observations, train/test split protocol.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06040"/>
            <a:ext cx="521208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2. Data Cleaning &amp; Validation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Verification of missing values, range validation, physical plausibility check, standard scaling.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3. Exploratory Data Analysis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Descriptive statistics, distribution shapes, correlation heatmaps, environmental impact.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74920"/>
            <a:ext cx="521208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4. Main Analysis &amp; Methods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Techniques aligned with course lectures: Dimensionality Reduction, Regression, Diagnostics.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5. Preview of Results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High-level summary of model performance, key feature importances, emission trade-offs.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606040"/>
            <a:ext cx="521208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6. Detailed Results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In-depth metric breakdown (R², RMSE, residuals), cross-validation across 2011–2015.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7. Conclusions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Industrial takeaways, operational recommendations, turbine emission control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542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100" b="1">
                <a:solidFill>
                  <a:srgbClr val="B4D7EB"/>
                </a:solidFill>
              </a:defRPr>
            </a:pPr>
            <a:r>
              <a:t>PHASE 1: DATASET PROFILING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1. Description of the Dataset &amp; Sensor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657600" cy="502920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tlCol="0" anchor="ctr"/>
          <a:lstStyle/>
          <a:p>
            <a:pPr algn="ctr">
              <a:defRPr sz="1600" b="1">
                <a:solidFill>
                  <a:srgbClr val="102542"/>
                </a:solidFill>
              </a:defRPr>
            </a:pPr>
            <a:r>
              <a:t>Dataset Characteristics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Location: Gas turbine plant in NW Turkey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Timeframe: 2011 – 2015 (5 consecutive years)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Granularity: Hourly aggregated averages/sums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Observations: 36,733 instances (sorted in time)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Missing Values: 0 (Complete sensor records)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Data Protocol: Train: 2011-13 (22,191 samples, 60.4%)</a:t>
            </a:r>
            <a:br/>
            <a:r>
              <a:t>Test: 2014-15 (14,535 samples, 39.6%)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• Key Targets: Emissions (CO, NOx), Energy (TEY)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663440" y="1371600"/>
          <a:ext cx="6766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Physical Role / Meaning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Ambient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AT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°C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Ambient Temperature (inlet air density driver)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Ambient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mbar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Ambient Atmospheric Pressure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Ambient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AH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Ambient Relative Humidity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Turbine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AFDP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mbar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Air Filter Difference Pressure (filter clogging)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Turbine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GTEP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mbar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Gas Turbine Exhaust Pressure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Turbine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°C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Turbine Inlet Temperature (efficiency driver)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Turbine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TAT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°C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Turbine After Temperature (exhaust)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Turbine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CDP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mbar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Compressor Discharge Pressure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Yield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TEY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MWh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Turbine Energy Yield (Net power output)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Emission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mg/m³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Carbon Monoxide (Incomplete combustion)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Emission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NOx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mg/m³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Nitrogen Oxides (Thermal NOx mechanism)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542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100" b="1">
                <a:solidFill>
                  <a:srgbClr val="B4D7EB"/>
                </a:solidFill>
              </a:defRPr>
            </a:pPr>
            <a:r>
              <a:t>PHASE 1: DATA PREPARATION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2. Data Cleaning, Quality Validation &amp; Preprocessing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228600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1. Completeness &amp; Integrity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Missing Values: 0 nulls across all 11 columns.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Duplicates: 7 sensor-profile duplicates pruned (36,726 clean rows).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Chronology: Preserved time order across 2011–2015.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Sanity Checks: Range verified for positive pressures &amp; valid temps.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228600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2. σ-Clipping (Course Method)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Robust Dispersion: $\hat{\sigma} = \frac{IQR}{1.35} = \frac{Q_3 - Q_1}{1.35}$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Robust Centering: Uses Median ($Q_2$) to resist leverage.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Boundaries: $[\text{Med} - 5\hat{\sigma},\; \text{Med} + 5\hat{\sigma}]$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Ambient/Turbine: 0 outliers (100% physically valid).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Inspection Only: Extreme values retained as real transient conditions.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228600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3. Protocol &amp; Scaling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Train Set (2011–13): 22,191 samples (60.4%)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Test Set (2014–15): 14,535 samples (39.6%)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No Leakage: Fit scaler strictly on Train, transform Test.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Target Separation: Standardized 8 predictors and 3 targets independently.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931920"/>
          <a:ext cx="10698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269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Median (Q2)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IQR (Q3 - Q1)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Est. σ̂ (IQR/1.35)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Valid Interval [Med ± 5σ̂]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Physical Assessment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AT (°C)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17.80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11.88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8.80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[-26.22, 61.82]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0 outliers (Physical weather)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AP (mbar)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1012.60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8.20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6.07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[982.23, 1042.97]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0 outliers (Barometric band)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TIT (°C)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1085.90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25.20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18.67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[992.57, 1179.23]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0 outliers (Firing regime)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TEY (MWh)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133.73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19.63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14.54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[61.03, 206.43]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0 outliers (Generator range)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697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CO (mg/m³)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1.71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1.66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1.23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[-4.44, 7.87]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Spikes = Incomplete combustion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698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NOx (mg/m³)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63.85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14.38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10.66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[10.57, 117.13]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Peaks = High flame temp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542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100" b="1">
                <a:solidFill>
                  <a:srgbClr val="B4D7EB"/>
                </a:solidFill>
              </a:defRPr>
            </a:pPr>
            <a:r>
              <a:t>PHASE 2: EXPLORATORY DATA ANALYSIS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3. Exploratory Analysis: Distributions &amp; Correlation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512064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rPr dirty="0"/>
              <a:t>Course Definition &amp; Statistical Synthesis</a:t>
            </a:r>
          </a:p>
          <a:p>
            <a:br>
              <a:rPr dirty="0"/>
            </a:br>
            <a:r>
              <a:rPr dirty="0"/>
              <a:t>Exploratory Analysis (Slide 3 &amp; 10):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rPr dirty="0"/>
              <a:t>Unsupervised synthesis of distributions into Size (Mean $\mu$, Median, Mode) and Spread (Variance $\sigma^2$, Std, IQR, Gini $G$, Entropy $H$).</a:t>
            </a:r>
          </a:p>
          <a:p>
            <a:br>
              <a:rPr dirty="0"/>
            </a:br>
            <a:r>
              <a:rPr dirty="0"/>
              <a:t>Size vs Spread Synthesis: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rPr dirty="0"/>
              <a:t>• Mean vs Median: CO mean (2.21) &gt;&gt; median (1.52) demonstrates strong positive skew.</a:t>
            </a:r>
            <a:br>
              <a:rPr dirty="0"/>
            </a:br>
            <a:r>
              <a:rPr dirty="0"/>
              <a:t>• Gini Index: CO exhibits high concentration (G=0.442) due to episodic spikes.</a:t>
            </a:r>
          </a:p>
          <a:p>
            <a:br>
              <a:rPr dirty="0"/>
            </a:br>
            <a:r>
              <a:rPr dirty="0"/>
              <a:t>Key Pearson Correlation ($r_{XY}$) Findings: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rPr dirty="0"/>
              <a:t>• Compressor &amp; Energy Coupling: CDP &amp; TEY ($r = 0.99$), GTEP &amp; TEY ($r = 0.98$) indicate strong collinearity in operating load.</a:t>
            </a:r>
            <a:br>
              <a:rPr dirty="0"/>
            </a:br>
            <a:r>
              <a:rPr dirty="0"/>
              <a:t>• Environmental Cooling Effect: Ambient Temp AT vs TEY ($r = -0.58$) due to reduced air density at higher temperatures.</a:t>
            </a:r>
            <a:br>
              <a:rPr dirty="0"/>
            </a:br>
            <a:r>
              <a:rPr dirty="0"/>
              <a:t>• </a:t>
            </a:r>
            <a:r>
              <a:rPr lang="it-IT" dirty="0"/>
              <a:t>MODIFICARE CO E NOX</a:t>
            </a:r>
            <a:endParaRPr dirty="0"/>
          </a:p>
        </p:txBody>
      </p:sp>
      <p:pic>
        <p:nvPicPr>
          <p:cNvPr id="4" name="Picture 3" descr="eda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80160"/>
            <a:ext cx="5303520" cy="41869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542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100" b="1">
                <a:solidFill>
                  <a:srgbClr val="B4D7EB"/>
                </a:solidFill>
              </a:defRPr>
            </a:pPr>
            <a:r>
              <a:t>PHASE 2: UNSUPERVISED PCA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3. Exploratory Analysis: PCA Dimensionality Reduction &amp; Biplot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512064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rPr dirty="0"/>
              <a:t>PCA as an Exploratory Technique (Slide 70)</a:t>
            </a:r>
          </a:p>
          <a:p>
            <a:br>
              <a:rPr dirty="0"/>
            </a:br>
            <a:r>
              <a:rPr dirty="0"/>
              <a:t>Course Formulation (Slide 75):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rPr dirty="0"/>
              <a:t>Eigen-decomposition of Covariance Matrix $C </a:t>
            </a:r>
            <a:r>
              <a:rPr dirty="0" err="1"/>
              <a:t>v_i</a:t>
            </a:r>
            <a:r>
              <a:rPr dirty="0"/>
              <a:t> = \</a:t>
            </a:r>
            <a:r>
              <a:rPr dirty="0" err="1"/>
              <a:t>lambda_i</a:t>
            </a:r>
            <a:r>
              <a:rPr dirty="0"/>
              <a:t> </a:t>
            </a:r>
            <a:r>
              <a:rPr dirty="0" err="1"/>
              <a:t>v_i</a:t>
            </a:r>
            <a:r>
              <a:rPr dirty="0"/>
              <a:t>$.</a:t>
            </a:r>
            <a:br>
              <a:rPr dirty="0"/>
            </a:br>
            <a:r>
              <a:rPr dirty="0"/>
              <a:t>Proportion of Variance Explained: $\text{PVE}_</a:t>
            </a:r>
            <a:r>
              <a:rPr dirty="0" err="1"/>
              <a:t>i</a:t>
            </a:r>
            <a:r>
              <a:rPr dirty="0"/>
              <a:t> = \</a:t>
            </a:r>
            <a:r>
              <a:rPr dirty="0" err="1"/>
              <a:t>lambda_i</a:t>
            </a:r>
            <a:r>
              <a:rPr dirty="0"/>
              <a:t> / \sum \</a:t>
            </a:r>
            <a:r>
              <a:rPr dirty="0" err="1"/>
              <a:t>lambda_j</a:t>
            </a:r>
            <a:r>
              <a:rPr dirty="0"/>
              <a:t>$.</a:t>
            </a:r>
          </a:p>
          <a:p>
            <a:br>
              <a:rPr dirty="0"/>
            </a:br>
            <a:r>
              <a:rPr dirty="0"/>
              <a:t>Dimensionality Reduction Results: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rPr dirty="0"/>
              <a:t>• PC1 (48.28%): Captures general turbine thermodynamic load (high loadings for CDP, TEY, GTEP, TIT).</a:t>
            </a:r>
            <a:br>
              <a:rPr dirty="0"/>
            </a:br>
            <a:r>
              <a:rPr dirty="0"/>
              <a:t>• PC2 (20.48%): Captures ambient temperature (AT) and the inverse CO vs NOx combustion trade-off.</a:t>
            </a:r>
            <a:br>
              <a:rPr dirty="0"/>
            </a:br>
            <a:r>
              <a:rPr dirty="0"/>
              <a:t>• First 2 PCs capture 68.76% of total system variance.</a:t>
            </a:r>
            <a:br>
              <a:rPr dirty="0"/>
            </a:br>
            <a:r>
              <a:rPr dirty="0"/>
              <a:t>• First 5 PCs capture 92.02% (Scree plot elbow at $p=5$).</a:t>
            </a:r>
          </a:p>
          <a:p>
            <a:br>
              <a:rPr dirty="0"/>
            </a:br>
            <a:r>
              <a:rPr dirty="0"/>
              <a:t>Industrial Takeaway: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rPr dirty="0"/>
              <a:t>The 11 physical sensors effectively lie on a low-dimensional manifold governed by ambient weather and power dispatch.</a:t>
            </a:r>
          </a:p>
        </p:txBody>
      </p:sp>
      <p:pic>
        <p:nvPicPr>
          <p:cNvPr id="4" name="Picture 3" descr="eda_pca_bi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280160"/>
            <a:ext cx="5303520" cy="3830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E8DA4-359D-9149-0802-E1DE3F1C0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A5EA26-EB5A-E892-6B1A-F5B268D71490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542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100" b="1">
                <a:solidFill>
                  <a:srgbClr val="B4D7EB"/>
                </a:solidFill>
              </a:defRPr>
            </a:pPr>
            <a:r>
              <a:rPr dirty="0"/>
              <a:t>PHASE 3: METHODOLOGICAL FRAMEWORK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4. Main Analysis: Objectives &amp; Methodological Framework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8699CF3-F6EB-D0F8-2D7A-707162BC726D}"/>
              </a:ext>
            </a:extLst>
          </p:cNvPr>
          <p:cNvSpPr/>
          <p:nvPr/>
        </p:nvSpPr>
        <p:spPr>
          <a:xfrm>
            <a:off x="731520" y="1371600"/>
            <a:ext cx="338328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300" b="1">
                <a:solidFill>
                  <a:srgbClr val="102542"/>
                </a:solidFill>
              </a:defRPr>
            </a:pPr>
            <a:r>
              <a:t>Objective 1: Energy Yield (TEY) &amp; PCR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Predict net turbine energy yield from 8 sensor telemetry features.</a:t>
            </a:r>
            <a:br/>
            <a:r>
              <a:t>• Problem: Extreme Multicollinearity (VIF &gt; 250 for CDP, TIT, GTEP, Slide 115).</a:t>
            </a:r>
            <a:br/>
            <a:r>
              <a:t>• Method: Principal Component Regression (PCR, Slides 70, 106) on 4 feature PCs ($Z = X_{\text{std}} V_4$, 90.76% PVE) to eliminate variance inflation and ensure numerical stability.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CE8DD28-F92D-9798-FCF2-06C270AA01CF}"/>
              </a:ext>
            </a:extLst>
          </p:cNvPr>
          <p:cNvSpPr/>
          <p:nvPr/>
        </p:nvSpPr>
        <p:spPr>
          <a:xfrm>
            <a:off x="4389120" y="1371600"/>
            <a:ext cx="338328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300" b="1">
                <a:solidFill>
                  <a:srgbClr val="102542"/>
                </a:solidFill>
              </a:defRPr>
            </a:pPr>
            <a:r>
              <a:rPr dirty="0"/>
              <a:t>Objective 2: Emissions Modeling (CO &amp; NOx)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rPr dirty="0"/>
              <a:t>• Quantify pollutant generation as a function of firing state.</a:t>
            </a:r>
            <a:br>
              <a:rPr dirty="0"/>
            </a:br>
            <a:r>
              <a:rPr dirty="0"/>
              <a:t>• Method: Polynomial Regression (Slide 116 &amp; Ex 4.1) for CO to capture steep non-linear spikes during low-load/startup regimes ($x \to [x, x^2]$).</a:t>
            </a:r>
            <a:br>
              <a:rPr dirty="0"/>
            </a:br>
            <a:r>
              <a:rPr dirty="0"/>
              <a:t>• Multivariate OLS for NOx tracking thermal oxidation.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3660D8-39BD-5869-BE54-BCEF7B34FA43}"/>
              </a:ext>
            </a:extLst>
          </p:cNvPr>
          <p:cNvSpPr/>
          <p:nvPr/>
        </p:nvSpPr>
        <p:spPr>
          <a:xfrm>
            <a:off x="8046720" y="1371600"/>
            <a:ext cx="3383280" cy="292608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tlCol="0" anchor="ctr"/>
          <a:lstStyle/>
          <a:p>
            <a:pPr algn="ctr">
              <a:defRPr sz="1300" b="1">
                <a:solidFill>
                  <a:srgbClr val="102542"/>
                </a:solidFill>
              </a:defRPr>
            </a:pPr>
            <a:r>
              <a:t>Objective 3: Operational Regimes (K-Means)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Discover discrete turbine operational regimes (Unsupervised).</a:t>
            </a:r>
            <a:br/>
            <a:r>
              <a:t>• Method: K-Means Clustering (Slides 90-91) with Silhouette validation (Slide 94, Ex 3.1): $\text{SIL} = \frac{1}{m}\sum \frac{b_i - a_i}{\max(a_i, b_i)}$.</a:t>
            </a:r>
            <a:br/>
            <a:r>
              <a:t>• Identifies Base-load, Peak-load, and Low-load emission profiles.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F6713E-45BC-B159-1E64-2D59794BA24F}"/>
              </a:ext>
            </a:extLst>
          </p:cNvPr>
          <p:cNvSpPr/>
          <p:nvPr/>
        </p:nvSpPr>
        <p:spPr>
          <a:xfrm>
            <a:off x="731520" y="4480560"/>
            <a:ext cx="10698480" cy="192024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tlCol="0" anchor="ctr"/>
          <a:lstStyle/>
          <a:p>
            <a:pPr algn="ctr">
              <a:defRPr sz="1300" b="1">
                <a:solidFill>
                  <a:srgbClr val="102542"/>
                </a:solidFill>
              </a:defRPr>
            </a:pPr>
            <a:r>
              <a:t>Mathematical Formulations &amp; Accuracy Metrics (Course Standards)</a:t>
            </a:r>
          </a:p>
          <a:p>
            <a:pPr>
              <a:defRPr sz="1050">
                <a:solidFill>
                  <a:srgbClr val="212529"/>
                </a:solidFill>
              </a:defRPr>
            </a:pPr>
            <a:r>
              <a:t>• Ordinary Least Squares: $\hat{\beta} = (X^T X)^{-1} X^T y$ (Slide 106, computed via `np.linalg.lstsq` for numerical stability)</a:t>
            </a:r>
            <a:br/>
            <a:r>
              <a:t>• Principal Component Regression: $\hat{\beta}_{PCR} = (Z^T Z)^{-1} Z^T y$, where $Z = X_{\text{std}} V_4$ (4 PCs capturing 90.76% PVE)</a:t>
            </a:r>
            <a:br/>
            <a:r>
              <a:t>• Multicollinearity VIF: $\text{VIF}(\hat{\beta}_j) = \frac{1}{1 - R^2_{x_j|x_{-j}}}$ (Slide 115) | Silhouette Quality: $\text{SIL}_i = \frac{b_i - a_i}{\max(a_i, b_i)}$ (Slide 94)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60EF876-BA6F-5054-1E79-2CDFD2C78FC4}"/>
              </a:ext>
            </a:extLst>
          </p:cNvPr>
          <p:cNvSpPr txBox="1"/>
          <p:nvPr/>
        </p:nvSpPr>
        <p:spPr>
          <a:xfrm>
            <a:off x="722179" y="1557756"/>
            <a:ext cx="535858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 • TEY </a:t>
            </a:r>
            <a:r>
              <a:rPr lang="it-IT" sz="1200" dirty="0" err="1"/>
              <a:t>implies</a:t>
            </a:r>
            <a:r>
              <a:rPr lang="it-IT" sz="1200" dirty="0"/>
              <a:t> PCR (4 </a:t>
            </a:r>
            <a:r>
              <a:rPr lang="it-IT" sz="1200" dirty="0" err="1"/>
              <a:t>PCs</a:t>
            </a:r>
            <a:r>
              <a:rPr lang="it-IT" sz="1200" dirty="0"/>
              <a:t>, 90.8% PVE):</a:t>
            </a:r>
          </a:p>
          <a:p>
            <a:r>
              <a:rPr lang="it-IT" sz="1200" dirty="0"/>
              <a:t>      • </a:t>
            </a:r>
            <a:r>
              <a:rPr lang="it-IT" sz="1200" dirty="0" err="1"/>
              <a:t>Motivation</a:t>
            </a:r>
            <a:r>
              <a:rPr lang="it-IT" sz="1200" dirty="0"/>
              <a:t>: </a:t>
            </a:r>
            <a:r>
              <a:rPr lang="it-IT" sz="1200" dirty="0" err="1"/>
              <a:t>Resolves</a:t>
            </a:r>
            <a:r>
              <a:rPr lang="it-IT" sz="1200" dirty="0"/>
              <a:t> severe </a:t>
            </a:r>
            <a:r>
              <a:rPr lang="it-IT" sz="1200" dirty="0" err="1"/>
              <a:t>multicollinearity</a:t>
            </a:r>
            <a:r>
              <a:rPr lang="it-IT" sz="1200" dirty="0"/>
              <a:t> (VIF &gt; 250 for CDP, TIT, GTEP). </a:t>
            </a:r>
            <a:r>
              <a:rPr lang="it-IT" sz="1200" dirty="0" err="1"/>
              <a:t>Projecting</a:t>
            </a:r>
            <a:r>
              <a:rPr lang="it-IT" sz="1200" dirty="0"/>
              <a:t> 8 </a:t>
            </a:r>
            <a:r>
              <a:rPr lang="it-IT" sz="1200" dirty="0" err="1"/>
              <a:t>correlated</a:t>
            </a:r>
            <a:r>
              <a:rPr lang="it-IT" sz="1200" dirty="0"/>
              <a:t> features </a:t>
            </a:r>
            <a:r>
              <a:rPr lang="it-IT" sz="1200" dirty="0" err="1"/>
              <a:t>onto</a:t>
            </a:r>
            <a:r>
              <a:rPr lang="it-IT" sz="1200" dirty="0"/>
              <a:t> 4 </a:t>
            </a:r>
            <a:r>
              <a:rPr lang="it-IT" sz="1200" dirty="0" err="1"/>
              <a:t>orthogonal</a:t>
            </a:r>
            <a:r>
              <a:rPr lang="it-IT" sz="1200" dirty="0"/>
              <a:t> </a:t>
            </a:r>
            <a:r>
              <a:rPr lang="it-IT" sz="1200" dirty="0" err="1"/>
              <a:t>components</a:t>
            </a:r>
            <a:endParaRPr lang="it-IT" sz="1200" dirty="0"/>
          </a:p>
          <a:p>
            <a:r>
              <a:rPr lang="it-IT" sz="1200" dirty="0"/>
              <a:t>      </a:t>
            </a:r>
            <a:r>
              <a:rPr lang="it-IT" sz="1200" dirty="0" err="1"/>
              <a:t>eliminates</a:t>
            </a:r>
            <a:r>
              <a:rPr lang="it-IT" sz="1200" dirty="0"/>
              <a:t> </a:t>
            </a:r>
            <a:r>
              <a:rPr lang="it-IT" sz="1200" dirty="0" err="1"/>
              <a:t>coefficient</a:t>
            </a:r>
            <a:r>
              <a:rPr lang="it-IT" sz="1200" dirty="0"/>
              <a:t> </a:t>
            </a:r>
            <a:r>
              <a:rPr lang="it-IT" sz="1200" dirty="0" err="1"/>
              <a:t>variance</a:t>
            </a:r>
            <a:r>
              <a:rPr lang="it-IT" sz="1200" dirty="0"/>
              <a:t> </a:t>
            </a:r>
            <a:r>
              <a:rPr lang="it-IT" sz="1200" dirty="0" err="1"/>
              <a:t>inflation</a:t>
            </a:r>
            <a:r>
              <a:rPr lang="it-IT" sz="1200" dirty="0"/>
              <a:t> and </a:t>
            </a:r>
            <a:r>
              <a:rPr lang="it-IT" sz="1200" dirty="0" err="1"/>
              <a:t>guarantees</a:t>
            </a:r>
            <a:r>
              <a:rPr lang="it-IT" sz="1200" dirty="0"/>
              <a:t> </a:t>
            </a:r>
            <a:r>
              <a:rPr lang="it-IT" sz="1200" dirty="0" err="1"/>
              <a:t>numerical</a:t>
            </a:r>
            <a:r>
              <a:rPr lang="it-IT" sz="1200" dirty="0"/>
              <a:t> </a:t>
            </a:r>
            <a:r>
              <a:rPr lang="it-IT" sz="1200" dirty="0" err="1"/>
              <a:t>stability</a:t>
            </a:r>
            <a:r>
              <a:rPr lang="it-IT" sz="1200" dirty="0"/>
              <a:t>.</a:t>
            </a:r>
          </a:p>
          <a:p>
            <a:r>
              <a:rPr lang="it-IT" sz="1200" dirty="0"/>
              <a:t>  • CO </a:t>
            </a:r>
            <a:r>
              <a:rPr lang="it-IT" sz="1200" dirty="0" err="1"/>
              <a:t>implies</a:t>
            </a:r>
            <a:r>
              <a:rPr lang="it-IT" sz="1200" dirty="0"/>
              <a:t> Degree-2 </a:t>
            </a:r>
            <a:r>
              <a:rPr lang="it-IT" sz="1200" dirty="0" err="1"/>
              <a:t>Polynomial</a:t>
            </a:r>
            <a:r>
              <a:rPr lang="it-IT" sz="1200" dirty="0"/>
              <a:t> </a:t>
            </a:r>
            <a:r>
              <a:rPr lang="it-IT" sz="1200" dirty="0" err="1"/>
              <a:t>Regression</a:t>
            </a:r>
            <a:r>
              <a:rPr lang="it-IT" sz="1200" dirty="0"/>
              <a:t> (x → [x,x²]):</a:t>
            </a:r>
          </a:p>
          <a:p>
            <a:r>
              <a:rPr lang="it-IT" sz="1200" dirty="0"/>
              <a:t>      • </a:t>
            </a:r>
            <a:r>
              <a:rPr lang="it-IT" sz="1200" dirty="0" err="1"/>
              <a:t>Motivation</a:t>
            </a:r>
            <a:r>
              <a:rPr lang="it-IT" sz="1200" dirty="0"/>
              <a:t>: </a:t>
            </a:r>
            <a:r>
              <a:rPr lang="it-IT" sz="1200" dirty="0" err="1"/>
              <a:t>Captures</a:t>
            </a:r>
            <a:r>
              <a:rPr lang="it-IT" sz="1200" dirty="0"/>
              <a:t> the non-linear, </a:t>
            </a:r>
            <a:r>
              <a:rPr lang="it-IT" sz="1200" dirty="0" err="1"/>
              <a:t>exponential</a:t>
            </a:r>
            <a:r>
              <a:rPr lang="it-IT" sz="1200" dirty="0"/>
              <a:t> </a:t>
            </a:r>
            <a:r>
              <a:rPr lang="it-IT" sz="1200" dirty="0" err="1"/>
              <a:t>emission</a:t>
            </a:r>
            <a:r>
              <a:rPr lang="it-IT" sz="1200" dirty="0"/>
              <a:t> surge </a:t>
            </a:r>
            <a:r>
              <a:rPr lang="it-IT" sz="1200" dirty="0" err="1"/>
              <a:t>during</a:t>
            </a:r>
            <a:r>
              <a:rPr lang="it-IT" sz="1200" dirty="0"/>
              <a:t> low-load/startup </a:t>
            </a:r>
            <a:r>
              <a:rPr lang="it-IT" sz="1200" dirty="0" err="1"/>
              <a:t>firing</a:t>
            </a:r>
            <a:r>
              <a:rPr lang="it-IT" sz="1200" dirty="0"/>
              <a:t> (</a:t>
            </a:r>
          </a:p>
          <a:p>
            <a:endParaRPr lang="it-IT" sz="1200" dirty="0"/>
          </a:p>
          <a:p>
            <a:endParaRPr lang="it-IT" sz="1200" dirty="0"/>
          </a:p>
          <a:p>
            <a:r>
              <a:rPr lang="it-IT" sz="1200" dirty="0"/>
              <a:t>         ∘</a:t>
            </a:r>
          </a:p>
          <a:p>
            <a:r>
              <a:rPr lang="it-IT" sz="1200" dirty="0"/>
              <a:t>    &lt;1070  C</a:t>
            </a:r>
          </a:p>
          <a:p>
            <a:endParaRPr lang="it-IT" sz="1200" dirty="0"/>
          </a:p>
          <a:p>
            <a:r>
              <a:rPr lang="it-IT" sz="1200" dirty="0"/>
              <a:t>  ) </a:t>
            </a:r>
            <a:r>
              <a:rPr lang="it-IT" sz="1200" dirty="0" err="1"/>
              <a:t>while</a:t>
            </a:r>
            <a:r>
              <a:rPr lang="it-IT" sz="1200" dirty="0"/>
              <a:t> </a:t>
            </a:r>
            <a:r>
              <a:rPr lang="it-IT" sz="1200" dirty="0" err="1"/>
              <a:t>maintaining</a:t>
            </a:r>
            <a:r>
              <a:rPr lang="it-IT" sz="1200" dirty="0"/>
              <a:t> a </a:t>
            </a:r>
            <a:r>
              <a:rPr lang="it-IT" sz="1200" dirty="0" err="1"/>
              <a:t>closed</a:t>
            </a:r>
            <a:r>
              <a:rPr lang="it-IT" sz="1200" dirty="0"/>
              <a:t>-form, </a:t>
            </a:r>
            <a:r>
              <a:rPr lang="it-IT" sz="1200" dirty="0" err="1"/>
              <a:t>interpretable</a:t>
            </a:r>
            <a:r>
              <a:rPr lang="it-IT" sz="1200" dirty="0"/>
              <a:t> linear </a:t>
            </a:r>
            <a:r>
              <a:rPr lang="it-IT" sz="1200" dirty="0" err="1"/>
              <a:t>optimization</a:t>
            </a:r>
            <a:r>
              <a:rPr lang="it-IT" sz="1200" dirty="0"/>
              <a:t>.</a:t>
            </a:r>
          </a:p>
          <a:p>
            <a:endParaRPr lang="it-IT" sz="1200" dirty="0"/>
          </a:p>
          <a:p>
            <a:r>
              <a:rPr lang="it-IT" sz="1200" dirty="0"/>
              <a:t>  • NOₓ </a:t>
            </a:r>
            <a:r>
              <a:rPr lang="it-IT" sz="1200" dirty="0" err="1"/>
              <a:t>implies</a:t>
            </a:r>
            <a:r>
              <a:rPr lang="it-IT" sz="1200" dirty="0"/>
              <a:t> Multivariate Linear OLS:</a:t>
            </a:r>
          </a:p>
          <a:p>
            <a:r>
              <a:rPr lang="it-IT" sz="1200" dirty="0"/>
              <a:t>      • </a:t>
            </a:r>
            <a:r>
              <a:rPr lang="it-IT" sz="1200" dirty="0" err="1"/>
              <a:t>Motivation</a:t>
            </a:r>
            <a:r>
              <a:rPr lang="it-IT" sz="1200" dirty="0"/>
              <a:t>: </a:t>
            </a:r>
            <a:r>
              <a:rPr lang="it-IT" sz="1200" dirty="0" err="1"/>
              <a:t>Captures</a:t>
            </a:r>
            <a:r>
              <a:rPr lang="it-IT" sz="1200" dirty="0"/>
              <a:t> </a:t>
            </a:r>
            <a:r>
              <a:rPr lang="it-IT" sz="1200" dirty="0" err="1"/>
              <a:t>monotonic</a:t>
            </a:r>
            <a:r>
              <a:rPr lang="it-IT" sz="1200" dirty="0"/>
              <a:t> </a:t>
            </a:r>
            <a:r>
              <a:rPr lang="it-IT" sz="1200" dirty="0" err="1"/>
              <a:t>atmospheric</a:t>
            </a:r>
            <a:r>
              <a:rPr lang="it-IT" sz="1200" dirty="0"/>
              <a:t> </a:t>
            </a:r>
            <a:r>
              <a:rPr lang="it-IT" sz="1200" dirty="0" err="1"/>
              <a:t>dependencies</a:t>
            </a:r>
            <a:r>
              <a:rPr lang="it-IT" sz="1200" dirty="0"/>
              <a:t> (AT,AH) </a:t>
            </a:r>
            <a:r>
              <a:rPr lang="it-IT" sz="1200" dirty="0" err="1"/>
              <a:t>without</a:t>
            </a:r>
            <a:r>
              <a:rPr lang="it-IT" sz="1200" dirty="0"/>
              <a:t> </a:t>
            </a:r>
            <a:r>
              <a:rPr lang="it-IT" sz="1200" dirty="0" err="1"/>
              <a:t>overfitting</a:t>
            </a:r>
            <a:r>
              <a:rPr lang="it-IT" sz="1200" dirty="0"/>
              <a:t>, </a:t>
            </a:r>
            <a:r>
              <a:rPr lang="it-IT" sz="1200" dirty="0" err="1"/>
              <a:t>providing</a:t>
            </a:r>
            <a:r>
              <a:rPr lang="it-IT" sz="1200" dirty="0"/>
              <a:t> a </a:t>
            </a:r>
            <a:r>
              <a:rPr lang="it-IT" sz="1200" dirty="0" err="1"/>
              <a:t>clean</a:t>
            </a:r>
            <a:r>
              <a:rPr lang="it-IT" sz="1200" dirty="0"/>
              <a:t> baseline to </a:t>
            </a:r>
            <a:r>
              <a:rPr lang="it-IT" sz="1200" dirty="0" err="1"/>
              <a:t>detect</a:t>
            </a:r>
            <a:r>
              <a:rPr lang="it-IT" sz="1200" dirty="0"/>
              <a:t> </a:t>
            </a:r>
            <a:r>
              <a:rPr lang="it-IT" sz="1200" dirty="0" err="1"/>
              <a:t>plant</a:t>
            </a:r>
            <a:r>
              <a:rPr lang="it-IT" sz="1200" dirty="0"/>
              <a:t> </a:t>
            </a:r>
            <a:r>
              <a:rPr lang="it-IT" sz="1200" dirty="0" err="1"/>
              <a:t>maintenance</a:t>
            </a:r>
            <a:r>
              <a:rPr lang="it-IT" sz="1200" dirty="0"/>
              <a:t> domain</a:t>
            </a:r>
          </a:p>
          <a:p>
            <a:r>
              <a:rPr lang="it-IT" sz="1200" dirty="0"/>
              <a:t>      shifts.</a:t>
            </a:r>
          </a:p>
          <a:p>
            <a:r>
              <a:rPr lang="it-IT" sz="1200" dirty="0"/>
              <a:t>  • </a:t>
            </a:r>
            <a:r>
              <a:rPr lang="it-IT" sz="1200" dirty="0" err="1"/>
              <a:t>Operational</a:t>
            </a:r>
            <a:r>
              <a:rPr lang="it-IT" sz="1200" dirty="0"/>
              <a:t> </a:t>
            </a:r>
            <a:r>
              <a:rPr lang="it-IT" sz="1200" dirty="0" err="1"/>
              <a:t>Regimes</a:t>
            </a:r>
            <a:r>
              <a:rPr lang="it-IT" sz="1200" dirty="0"/>
              <a:t> </a:t>
            </a:r>
            <a:r>
              <a:rPr lang="it-IT" sz="1200" dirty="0" err="1"/>
              <a:t>implies</a:t>
            </a:r>
            <a:r>
              <a:rPr lang="it-IT" sz="1200" dirty="0"/>
              <a:t> K-Means Clustering (K = 3):</a:t>
            </a:r>
          </a:p>
          <a:p>
            <a:r>
              <a:rPr lang="it-IT" sz="1200" dirty="0"/>
              <a:t>      • </a:t>
            </a:r>
            <a:r>
              <a:rPr lang="it-IT" sz="1200" dirty="0" err="1"/>
              <a:t>Motivation</a:t>
            </a:r>
            <a:r>
              <a:rPr lang="it-IT" sz="1200" dirty="0"/>
              <a:t>: </a:t>
            </a:r>
            <a:r>
              <a:rPr lang="it-IT" sz="1200" dirty="0" err="1"/>
              <a:t>Unsupervised</a:t>
            </a:r>
            <a:r>
              <a:rPr lang="it-IT" sz="1200" dirty="0"/>
              <a:t> </a:t>
            </a:r>
            <a:r>
              <a:rPr lang="it-IT" sz="1200" dirty="0" err="1"/>
              <a:t>partitioning</a:t>
            </a:r>
            <a:r>
              <a:rPr lang="it-IT" sz="1200" dirty="0"/>
              <a:t> of </a:t>
            </a:r>
            <a:r>
              <a:rPr lang="it-IT" sz="1200" dirty="0" err="1"/>
              <a:t>continuous</a:t>
            </a:r>
            <a:r>
              <a:rPr lang="it-IT" sz="1200" dirty="0"/>
              <a:t> </a:t>
            </a:r>
            <a:r>
              <a:rPr lang="it-IT" sz="1200" dirty="0" err="1"/>
              <a:t>telemetry</a:t>
            </a:r>
            <a:r>
              <a:rPr lang="it-IT" sz="1200" dirty="0"/>
              <a:t> </a:t>
            </a:r>
            <a:r>
              <a:rPr lang="it-IT" sz="1200" dirty="0" err="1"/>
              <a:t>into</a:t>
            </a:r>
            <a:r>
              <a:rPr lang="it-IT" sz="1200" dirty="0"/>
              <a:t> 3 </a:t>
            </a:r>
            <a:r>
              <a:rPr lang="it-IT" sz="1200" dirty="0" err="1"/>
              <a:t>canonical</a:t>
            </a:r>
            <a:r>
              <a:rPr lang="it-IT" sz="1200" dirty="0"/>
              <a:t> </a:t>
            </a:r>
            <a:r>
              <a:rPr lang="it-IT" sz="1200" dirty="0" err="1"/>
              <a:t>dispatch</a:t>
            </a:r>
            <a:r>
              <a:rPr lang="it-IT" sz="1200" dirty="0"/>
              <a:t> </a:t>
            </a:r>
            <a:r>
              <a:rPr lang="it-IT" sz="1200" dirty="0" err="1"/>
              <a:t>states</a:t>
            </a:r>
            <a:r>
              <a:rPr lang="it-IT" sz="1200" dirty="0"/>
              <a:t> (Peak Load, </a:t>
            </a:r>
            <a:r>
              <a:rPr lang="it-IT" sz="1200" dirty="0" err="1"/>
              <a:t>Baseload</a:t>
            </a:r>
            <a:r>
              <a:rPr lang="it-IT" sz="1200" dirty="0"/>
              <a:t>, Part-Load) to isolate the 3.3</a:t>
            </a:r>
          </a:p>
          <a:p>
            <a:r>
              <a:rPr lang="it-IT" sz="1200" dirty="0"/>
              <a:t>      × CO surge.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45A3A363-704F-84FE-E9AB-BC7C58930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3617" y="2377440"/>
            <a:ext cx="5570703" cy="264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30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542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100" b="1">
                <a:solidFill>
                  <a:srgbClr val="B4D7EB"/>
                </a:solidFill>
              </a:defRPr>
            </a:pPr>
            <a:r>
              <a:t>PHASE 4: RESULTS SYNTHESIS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5. Preview &amp; High-Level Summary of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514600" cy="1463040"/>
          </a:xfrm>
          <a:prstGeom prst="roundRect">
            <a:avLst/>
          </a:prstGeom>
          <a:solidFill>
            <a:srgbClr val="EBF7EE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>
              <a:defRPr sz="2400" b="1">
                <a:solidFill>
                  <a:srgbClr val="28A745"/>
                </a:solidFill>
              </a:defRPr>
            </a:pPr>
            <a:r>
              <a:rPr dirty="0"/>
              <a:t>0.9501</a:t>
            </a:r>
          </a:p>
          <a:p>
            <a:pPr>
              <a:defRPr sz="1050" b="1">
                <a:solidFill>
                  <a:srgbClr val="212529"/>
                </a:solidFill>
              </a:defRPr>
            </a:pPr>
            <a:r>
              <a:rPr dirty="0"/>
              <a:t>Best TEY Test R² (OLS)</a:t>
            </a:r>
          </a:p>
          <a:p>
            <a:pPr>
              <a:defRPr sz="900">
                <a:solidFill>
                  <a:srgbClr val="6C757D"/>
                </a:solidFill>
              </a:defRPr>
            </a:pPr>
            <a:r>
              <a:rPr dirty="0"/>
              <a:t>Full 8-feature multivariate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280160"/>
            <a:ext cx="2514600" cy="1463040"/>
          </a:xfrm>
          <a:prstGeom prst="roundRect">
            <a:avLst/>
          </a:prstGeom>
          <a:solidFill>
            <a:srgbClr val="EBF7EE"/>
          </a:solidFill>
          <a:ln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>
              <a:defRPr sz="2400" b="1">
                <a:solidFill>
                  <a:srgbClr val="28A745"/>
                </a:solidFill>
              </a:defRPr>
            </a:pPr>
            <a:r>
              <a:t>0.9397</a:t>
            </a:r>
          </a:p>
          <a:p>
            <a:pPr>
              <a:defRPr sz="1050" b="1">
                <a:solidFill>
                  <a:srgbClr val="212529"/>
                </a:solidFill>
              </a:defRPr>
            </a:pPr>
            <a:r>
              <a:t>TEY PCR Test R² (4 PCs)</a:t>
            </a:r>
          </a:p>
          <a:p>
            <a:pPr>
              <a:defRPr sz="900">
                <a:solidFill>
                  <a:srgbClr val="6C757D"/>
                </a:solidFill>
              </a:defRPr>
            </a:pPr>
            <a:r>
              <a:t>Collinearity-free (90.76% PVE)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251460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>
              <a:defRPr sz="2400" b="1">
                <a:solidFill>
                  <a:srgbClr val="102542"/>
                </a:solidFill>
              </a:defRPr>
            </a:pPr>
            <a:r>
              <a:t>0.6477</a:t>
            </a:r>
          </a:p>
          <a:p>
            <a:pPr>
              <a:defRPr sz="1050" b="1">
                <a:solidFill>
                  <a:srgbClr val="212529"/>
                </a:solidFill>
              </a:defRPr>
            </a:pPr>
            <a:r>
              <a:t>CO Train R² (Poly Deg. 2)</a:t>
            </a:r>
          </a:p>
          <a:p>
            <a:pPr>
              <a:defRPr sz="900">
                <a:solidFill>
                  <a:srgbClr val="6C757D"/>
                </a:solidFill>
              </a:defRPr>
            </a:pPr>
            <a:r>
              <a:t>Captures non-linear low-load curve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280160"/>
            <a:ext cx="2514600" cy="146304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tlCol="0" anchor="ctr"/>
          <a:lstStyle/>
          <a:p>
            <a:pPr algn="ctr">
              <a:defRPr sz="2400" b="1">
                <a:solidFill>
                  <a:srgbClr val="102542"/>
                </a:solidFill>
              </a:defRPr>
            </a:pPr>
            <a:r>
              <a:t>3 Regimes</a:t>
            </a:r>
          </a:p>
          <a:p>
            <a:pPr>
              <a:defRPr sz="1050" b="1">
                <a:solidFill>
                  <a:srgbClr val="212529"/>
                </a:solidFill>
              </a:defRPr>
            </a:pPr>
            <a:r>
              <a:t>Operational Clusters</a:t>
            </a:r>
          </a:p>
          <a:p>
            <a:pPr>
              <a:defRPr sz="900">
                <a:solidFill>
                  <a:srgbClr val="6C757D"/>
                </a:solidFill>
              </a:defRPr>
            </a:pPr>
            <a:r>
              <a:t>Peak, Baseload &amp; Part-Load (K-Means)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92608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Target Variable &amp; Model Specification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Train R² (2011–13)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Train RMSE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R² (2014–15)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Test RMSE</a:t>
                      </a:r>
                    </a:p>
                  </a:txBody>
                  <a:tcPr>
                    <a:solidFill>
                      <a:srgbClr val="1025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2542"/>
                          </a:solidFill>
                        </a:defRPr>
                      </a:pPr>
                      <a:r>
                        <a:t>TEY: Full Multivariate OLS (8 Features)</a:t>
                      </a:r>
                    </a:p>
                  </a:txBody>
                  <a:tcPr>
                    <a:solidFill>
                      <a:srgbClr val="EBF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2542"/>
                          </a:solidFill>
                        </a:defRPr>
                      </a:pPr>
                      <a:r>
                        <a:t>0.9977</a:t>
                      </a:r>
                    </a:p>
                  </a:txBody>
                  <a:tcPr>
                    <a:solidFill>
                      <a:srgbClr val="EBF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2542"/>
                          </a:solidFill>
                        </a:defRPr>
                      </a:pPr>
                      <a:r>
                        <a:t>0.76 MWh</a:t>
                      </a:r>
                    </a:p>
                  </a:txBody>
                  <a:tcPr>
                    <a:solidFill>
                      <a:srgbClr val="EBF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2542"/>
                          </a:solidFill>
                        </a:defRPr>
                      </a:pPr>
                      <a:r>
                        <a:t>0.9501</a:t>
                      </a:r>
                    </a:p>
                  </a:txBody>
                  <a:tcPr>
                    <a:solidFill>
                      <a:srgbClr val="EBF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2542"/>
                          </a:solidFill>
                        </a:defRPr>
                      </a:pPr>
                      <a:r>
                        <a:t>3.35 MWh</a:t>
                      </a:r>
                    </a:p>
                  </a:txBody>
                  <a:tcPr>
                    <a:solidFill>
                      <a:srgbClr val="EB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2542"/>
                          </a:solidFill>
                        </a:defRPr>
                      </a:pPr>
                      <a:r>
                        <a:t>TEY: PCR (4 Principal Components, 90.76% PVE)</a:t>
                      </a:r>
                    </a:p>
                  </a:txBody>
                  <a:tcPr>
                    <a:solidFill>
                      <a:srgbClr val="EBF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2542"/>
                          </a:solidFill>
                        </a:defRPr>
                      </a:pPr>
                      <a:r>
                        <a:t>0.9693</a:t>
                      </a:r>
                    </a:p>
                  </a:txBody>
                  <a:tcPr>
                    <a:solidFill>
                      <a:srgbClr val="EBF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2542"/>
                          </a:solidFill>
                        </a:defRPr>
                      </a:pPr>
                      <a:r>
                        <a:t>2.81 MWh</a:t>
                      </a:r>
                    </a:p>
                  </a:txBody>
                  <a:tcPr>
                    <a:solidFill>
                      <a:srgbClr val="EBF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2542"/>
                          </a:solidFill>
                        </a:defRPr>
                      </a:pPr>
                      <a:r>
                        <a:t>0.9397</a:t>
                      </a:r>
                    </a:p>
                  </a:txBody>
                  <a:tcPr>
                    <a:solidFill>
                      <a:srgbClr val="EBF7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2542"/>
                          </a:solidFill>
                        </a:defRPr>
                      </a:pPr>
                      <a:r>
                        <a:t>3.68 MWh</a:t>
                      </a:r>
                    </a:p>
                  </a:txBody>
                  <a:tcPr>
                    <a:solidFill>
                      <a:srgbClr val="EB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TEY: Training-Mean Baseline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16.03 MWh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-0.0000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14.98 MWh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CO: Polynomial (Degree 2, Slide 116)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0.6477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1.36 mg/m³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0.2635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1.88 mg/m³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CO: Training-Mean Baseline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2.30 mg/m³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-0.0333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2.23 mg/m³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NOx: Multivariate OLS (8 Features)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0.4536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8.16 mg/m³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-1.0928*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15.30 mg/m³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NOx: Training-Mean Baseline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0.0000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11.04 mg/m³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-0.6914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13.76 mg/m³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542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100" b="1">
                <a:solidFill>
                  <a:srgbClr val="B4D7EB"/>
                </a:solidFill>
              </a:defRPr>
            </a:pPr>
            <a:r>
              <a:rPr dirty="0"/>
              <a:t>PHASE 4: IN-DEPTH MODEL EVALUATION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6. Detailed Results: Energy Yield (TEY) &amp; PCR Diagnostics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512064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rPr dirty="0"/>
              <a:t>TEY Model Diagnostics &amp; Multicollinearity</a:t>
            </a:r>
          </a:p>
          <a:p>
            <a:br>
              <a:rPr dirty="0"/>
            </a:br>
            <a:r>
              <a:rPr dirty="0"/>
              <a:t>Multicollinearity Diagnostics (Slide 115):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rPr dirty="0"/>
              <a:t>• Extreme VIF scores diagnosed in operating telemetry: CDP (342.82), TIT (262.12), GTEP (260.47), TAT (133.21).</a:t>
            </a:r>
            <a:br>
              <a:rPr dirty="0"/>
            </a:br>
            <a:r>
              <a:rPr dirty="0"/>
              <a:t>• Predictor covariance eigen-decomposition reveals 4 PCs capture 90.76% of total feature variance.</a:t>
            </a:r>
          </a:p>
          <a:p>
            <a:br>
              <a:rPr dirty="0"/>
            </a:br>
            <a:r>
              <a:rPr dirty="0"/>
              <a:t>OLS vs. PCR Tradeoff (Slides 70, 106):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rPr dirty="0"/>
              <a:t>• Full OLS: Highest raw test accuracy (Test R² = 0.9501, RMSE = 3.35 MWh), but predictor weights suffer from severe collinear instability.</a:t>
            </a:r>
            <a:br>
              <a:rPr dirty="0"/>
            </a:br>
            <a:r>
              <a:rPr dirty="0"/>
              <a:t>• PCR (4 PCs): Achieves Test R² = 0.9397 (RMSE = 3.68 MWh) while projecting onto strictly orthogonal coordinates, guaranteeing stable physical interpretation.</a:t>
            </a:r>
          </a:p>
          <a:p>
            <a:br>
              <a:rPr dirty="0"/>
            </a:br>
            <a:r>
              <a:rPr dirty="0"/>
              <a:t>Residual Analysis (Slides 104, 108):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rPr dirty="0"/>
              <a:t>• Residuals $</a:t>
            </a:r>
            <a:r>
              <a:rPr dirty="0" err="1"/>
              <a:t>e_i</a:t>
            </a:r>
            <a:r>
              <a:rPr dirty="0"/>
              <a:t> = </a:t>
            </a:r>
            <a:r>
              <a:rPr dirty="0" err="1"/>
              <a:t>y_i</a:t>
            </a:r>
            <a:r>
              <a:rPr dirty="0"/>
              <a:t> - \hat{y}_</a:t>
            </a:r>
            <a:r>
              <a:rPr dirty="0" err="1"/>
              <a:t>i</a:t>
            </a:r>
            <a:r>
              <a:rPr dirty="0"/>
              <a:t>$ are zero-centered with symmetric Gaussian distribution and homoscedastic variance across the full 100–180 MWh generator span.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542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100" b="1">
                <a:solidFill>
                  <a:srgbClr val="B4D7EB"/>
                </a:solidFill>
              </a:defRPr>
            </a:pPr>
            <a:r>
              <a:rPr dirty="0"/>
              <a:t>PHASE 4: IN-DEPTH MODEL EVALUATION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/>
              <a:t>6. Detailed Results: Emissions Modeling &amp; Operational Regimes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120640" cy="512064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rPr dirty="0"/>
              <a:t>Emissions Modeling &amp; K-Means Clusters</a:t>
            </a:r>
          </a:p>
          <a:p>
            <a:br>
              <a:rPr dirty="0"/>
            </a:br>
            <a:r>
              <a:rPr dirty="0"/>
              <a:t>CO Polynomial Enhancement (Slide 116):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rPr dirty="0"/>
              <a:t>• Adding quadratic feature terms ($x \to [x, x^2]$) increases Train R² to 0.6477 (RMSE = 1.36 mg/m³).</a:t>
            </a:r>
            <a:br>
              <a:rPr dirty="0"/>
            </a:br>
            <a:r>
              <a:rPr dirty="0"/>
              <a:t>• Captures the non-linear inflection below 1070°C where incomplete combustion surges exponentially.</a:t>
            </a:r>
          </a:p>
          <a:p>
            <a:br>
              <a:rPr dirty="0"/>
            </a:br>
            <a:r>
              <a:rPr dirty="0"/>
              <a:t>NOx Domain Shift Analysis (*):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rPr dirty="0"/>
              <a:t>• Negative out-of-sample Test R² (-1.0928) reflects a plant hardware/burner recalibration in 2014–15 (baseline NOx dropped from 68.8 to 58.5 mg/m³).</a:t>
            </a:r>
          </a:p>
          <a:p>
            <a:br>
              <a:rPr dirty="0"/>
            </a:br>
            <a:r>
              <a:rPr dirty="0"/>
              <a:t>Operational Regimes Profile (K=3, Silhouette = 0.3023):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rPr dirty="0"/>
              <a:t>• Peak Load (4,309 </a:t>
            </a:r>
            <a:r>
              <a:rPr dirty="0" err="1"/>
              <a:t>hrs</a:t>
            </a:r>
            <a:r>
              <a:rPr dirty="0"/>
              <a:t>): TEY = 158.2 MWh, TIT = 1100°C, CDP = 13.8 mbar $\implies$ CO = 1.00 mg/m³.</a:t>
            </a:r>
            <a:br>
              <a:rPr dirty="0"/>
            </a:br>
            <a:r>
              <a:rPr dirty="0"/>
              <a:t>• Nominal Load (7,820 </a:t>
            </a:r>
            <a:r>
              <a:rPr dirty="0" err="1"/>
              <a:t>hrs</a:t>
            </a:r>
            <a:r>
              <a:rPr dirty="0"/>
              <a:t>): TEY = 134.5 MWh, TIT = 1091°C, CDP = 12.2 mbar $\implies$ CO = 1.48 mg/m³.</a:t>
            </a:r>
            <a:br>
              <a:rPr dirty="0"/>
            </a:br>
            <a:r>
              <a:rPr dirty="0"/>
              <a:t>• Part Load (10,062 </a:t>
            </a:r>
            <a:r>
              <a:rPr dirty="0" err="1"/>
              <a:t>hrs</a:t>
            </a:r>
            <a:r>
              <a:rPr dirty="0"/>
              <a:t>): TEY = 122.3 MWh, TIT = 1070°C, CDP = 11.2 mbar $\implies$ CO = 3.30 mg/m³ (3.3x higher!).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02542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0" tIns="137160" rtlCol="0" anchor="ctr"/>
          <a:lstStyle/>
          <a:p>
            <a:pPr algn="ctr">
              <a:defRPr sz="1100" b="1">
                <a:solidFill>
                  <a:srgbClr val="B4D7EB"/>
                </a:solidFill>
              </a:defRPr>
            </a:pPr>
            <a:r>
              <a:t>PHASE 5: STRATEGIC INSIGHTS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7. Conclusions &amp; Engineering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502920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rPr dirty="0"/>
              <a:t>1. Methodological Justifications</a:t>
            </a:r>
          </a:p>
          <a:p>
            <a:br>
              <a:rPr dirty="0"/>
            </a:br>
            <a:r>
              <a:rPr dirty="0"/>
              <a:t>• Multicollinearity: VIF &gt; 250 proved that raw sensor telemetry is collinear. PCR on 4 orthogonal components captured 90.76% of variance, ensuring parameter stability.</a:t>
            </a:r>
            <a:br>
              <a:rPr dirty="0"/>
            </a:br>
            <a:r>
              <a:rPr dirty="0"/>
              <a:t>• Non-linear Physics: CO follows non-linear thermal oxidation kinetics; degree-2 polynomial expansion resolved the inflection point.</a:t>
            </a:r>
            <a:br>
              <a:rPr dirty="0"/>
            </a:br>
            <a:r>
              <a:rPr dirty="0"/>
              <a:t>• Unsupervised Regimes: K-Means (K=3) partitioned turbine operations into distinct thermodynamic states.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383280" cy="502920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t>2. Operational Emission Control</a:t>
            </a:r>
          </a:p>
          <a:p>
            <a:br/>
            <a:r>
              <a:t>• Avoid Low Firing Regimes: Part-load operation below 1070°C firing produces 3.3x higher CO emissions.</a:t>
            </a:r>
            <a:br/>
            <a:r>
              <a:t>• Peak Load Cleanliness: Operating at peak load (TIT ~1100°C) maximizes power yield (158.2 MWh) and minimizes CO (1.0 mg/m³).</a:t>
            </a:r>
            <a:br/>
            <a:r>
              <a:t>• Ambient Weather Compensation: Ambient temperature penalizes turbine yield (-0.58 correlation), justifying inlet air chilling systems during summer.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5029200"/>
          </a:xfrm>
          <a:prstGeom prst="round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400" b="1">
                <a:solidFill>
                  <a:srgbClr val="102542"/>
                </a:solidFill>
              </a:defRPr>
            </a:pPr>
            <a:r>
              <a:rPr dirty="0"/>
              <a:t>3. Digital Twin &amp; Deployment</a:t>
            </a:r>
          </a:p>
          <a:p>
            <a:br>
              <a:rPr dirty="0"/>
            </a:br>
            <a:r>
              <a:rPr dirty="0"/>
              <a:t>• Real-Time Monitoring: The lightweight 4-component PCR model can run in real-time on edge turbine PLCs for anomaly detection.</a:t>
            </a:r>
            <a:br>
              <a:rPr dirty="0"/>
            </a:br>
            <a:r>
              <a:rPr dirty="0"/>
              <a:t>• Sensor Redundancy: High collinearity allows synthetic sensor estimation if a pressure transducer fails in operation.</a:t>
            </a:r>
            <a:br>
              <a:rPr dirty="0"/>
            </a:br>
            <a:r>
              <a:rPr dirty="0"/>
              <a:t>• Regulatory Compliance: Predictive emission models enable preemptive flue gas compliance adjustments.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542"/>
          </a:solidFill>
          <a:ln>
            <a:solidFill>
              <a:srgbClr val="102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defRPr sz="2200">
                <a:solidFill>
                  <a:srgbClr val="B4D7EB"/>
                </a:solidFill>
              </a:defRPr>
            </a:pPr>
            <a:r>
              <a:t>Questions &amp; Technical Discussion</a:t>
            </a:r>
            <a:br/>
            <a:endParaRPr/>
          </a:p>
          <a:p>
            <a:pPr>
              <a:defRPr sz="1300">
                <a:solidFill>
                  <a:srgbClr val="D2E1F0"/>
                </a:solidFill>
              </a:defRPr>
            </a:pPr>
            <a:r>
              <a:t>• Supplementary Material: Full Python Jupyter Notebook (gas_turbine_analysis.ipynb)</a:t>
            </a:r>
            <a:br/>
            <a:r>
              <a:t>• Dataset: 36,733 hourly records across 2011–2015 (Turkey Gas Turbine)</a:t>
            </a:r>
            <a:br/>
            <a:r>
              <a:t>• All methods strictly conform to the Data Analytics course syllabus.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2602</Words>
  <Application>Microsoft Office PowerPoint</Application>
  <PresentationFormat>Widescreen</PresentationFormat>
  <Paragraphs>266</Paragraphs>
  <Slides>12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Guido Maria Di Fiore</cp:lastModifiedBy>
  <cp:revision>5</cp:revision>
  <dcterms:created xsi:type="dcterms:W3CDTF">2013-01-27T09:14:16Z</dcterms:created>
  <dcterms:modified xsi:type="dcterms:W3CDTF">2026-09-01T16:30:55Z</dcterms:modified>
  <cp:category/>
</cp:coreProperties>
</file>