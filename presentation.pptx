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542"/>
          </a:solidFill>
          <a:ln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Data Analytics &amp; Predictive Modeling</a:t>
            </a:r>
          </a:p>
          <a:p>
            <a:pPr>
              <a:defRPr sz="2200">
                <a:solidFill>
                  <a:srgbClr val="B4CDEB"/>
                </a:solidFill>
              </a:defRPr>
            </a:pPr>
            <a:r>
              <a:t>Flue Gas Emissions (CO, NOx) and Energy Yield in Gas Turbines</a:t>
            </a:r>
          </a:p>
          <a:p>
            <a:br/>
            <a:pPr>
              <a:defRPr sz="1400">
                <a:solidFill>
                  <a:srgbClr val="C8D7E6"/>
                </a:solidFill>
              </a:defRPr>
            </a:pPr>
            <a:r>
              <a:t>Course: Data Analytics (and Data Driven Decision) — University of L'Aquila</a:t>
            </a:r>
            <a:br/>
            <a:r>
              <a:t>Based on Course Methodologies and 2011–2015 Hourly Sensor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542"/>
          </a:solidFill>
          <a:ln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B4CDEB"/>
                </a:solidFill>
              </a:defRPr>
            </a:pPr>
            <a:r>
              <a:t>DATA ANALYTICS PROJECT WORK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Project Workflow &amp; Guidelines Structure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212080" cy="109728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1. Description of Dataset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Data origin, 11 sensor variables, 36,733 hourly observations, train/test split protocol.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606040"/>
            <a:ext cx="5212080" cy="109728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2. Data Cleaning &amp; Validation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Verification of missing values, range validation, physical plausibility check, standard scaling.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840480"/>
            <a:ext cx="5212080" cy="109728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3. Exploratory Data Analysis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Descriptive statistics, distribution shapes, correlation heatmaps, environmental impact.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074920"/>
            <a:ext cx="5212080" cy="109728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4. Main Analysis &amp; Methods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Techniques aligned with course lectures: Dimensionality Reduction, Regression, Diagnostics.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212080" cy="109728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5. Preview of Results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High-level summary of model performance, key feature importances, emission trade-offs.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606040"/>
            <a:ext cx="5212080" cy="109728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6. Detailed Results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In-depth metric breakdown (R², RMSE, residuals), cross-validation across 2011–2015.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840480"/>
            <a:ext cx="5212080" cy="109728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7. Conclusions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Industrial takeaways, operational recommendations, turbine emission control strategies.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542"/>
          </a:solidFill>
          <a:ln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B4CDEB"/>
                </a:solidFill>
              </a:defRPr>
            </a:pPr>
            <a:r>
              <a:t>DATA ANALYTICS PROJECT WORK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1. Description of the Dataset &amp; Sensor Features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657600" cy="502920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defRPr sz="1600" b="1">
                <a:solidFill>
                  <a:srgbClr val="102542"/>
                </a:solidFill>
              </a:defRPr>
            </a:pPr>
            <a:r>
              <a:t>Dataset Characteristics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• Location: Gas turbine plant in NW Turkey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• Timeframe: 2011 – 2015 (5 consecutive years)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• Granularity: Hourly aggregated averages/sums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• Observations: 36,733 instances (sorted in time)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• Missing Values: 0 (Complete sensor records)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• Data Protocol: Train: 2011-13 (60.4%)</a:t>
            </a:r>
            <a:br/>
            <a:r>
              <a:t>Test: 2014-15 (39.6%)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• Key Targets: Emissions (CO, NOx), Energy (TEY)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663440" y="1371600"/>
          <a:ext cx="676656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005840"/>
                <a:gridCol w="914400"/>
                <a:gridCol w="3474720"/>
              </a:tblGrid>
              <a:tr h="41910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Variable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Unit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Physical Role / Meaning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Ambient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°C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Ambient Temperature (inlet air density driver)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Ambient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mbar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Ambient Atmospheric Pressure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Ambient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Ambient Relative Humidity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Turbine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AFDP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mbar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Air Filter Difference Pressure (filter clogging)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Turbine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GTEP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mbar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Gas Turbine Exhaust Pressure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Turbine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°C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Turbine Inlet Temperature (efficiency driver)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Turbine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TAT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°C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Turbine After Temperature (exhaust)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Turbine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CDP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mbar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Compressor Discharge Pressure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Yield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TEY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MWh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Turbine Energy Yield (Net power output)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Emission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mg/m³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Carbon Monoxide (Incomplete combustion)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Emission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NOx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mg/m³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Nitrogen Oxides (Thermal NOx mechanism)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