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Flue Gas Emissions (CO, NOx) and Energy Yield in Gas Turbines</a:t>
            </a:r>
          </a:p>
          <a:p>
            <a:br/>
            <a:r>
              <a:t>Course: Data Analytics (and Data Driven Decision) — University of L'Aquila</a:t>
            </a:r>
            <a:br/>
            <a:r>
              <a:t>Based on Multi-Year Hourly Telemetry (36,733 records) and Course Methodologies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METHODOLOGICAL ROADMAP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DATASET PROFILING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ctr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(22,191 samples, 60.4%)</a:t>
            </a:r>
            <a:br/>
            <a:r>
              <a:t>Test: 2014-15 (14,535 samples, 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 PREPARATION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sensor-profile duplicates pruned (36,726 clean rows).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Sanity Checks: Range verified for positive pressures &amp; valid temps.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Inspection Only: Extreme values retained as real transient conditions.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22,191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14,535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Target Separation: Standardized 8 predictors and 3 targets independently.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[-26.22,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7.87]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EXPLORATORY DATA ANALYSIS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Course Definition &amp; Statistical Synthesis</a:t>
            </a:r>
          </a:p>
          <a:p>
            <a:br>
              <a:rPr dirty="0"/>
            </a:br>
            <a:r>
              <a:rPr dirty="0"/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Unsupervised synthesis of distributions into Size (Mean $\mu$, Median, Mode) and Spread (Variance $\sigma^2$, Std, IQR, Gini $G$, Entropy $H$).</a:t>
            </a:r>
          </a:p>
          <a:p>
            <a:br>
              <a:rPr dirty="0"/>
            </a:br>
            <a:r>
              <a:rPr dirty="0"/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Mean vs Median: CO mean (2.21) &gt;&gt; median (1.52) demonstrates strong positive skew.</a:t>
            </a:r>
            <a:br>
              <a:rPr dirty="0"/>
            </a:br>
            <a:r>
              <a:rPr dirty="0"/>
              <a:t>• Gini Index: CO exhibits high concentration (G=0.442) due to episodic spikes.</a:t>
            </a:r>
          </a:p>
          <a:p>
            <a:br>
              <a:rPr dirty="0"/>
            </a:br>
            <a:r>
              <a:rPr dirty="0"/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Compressor &amp; Energy Coupling: CDP &amp; TEY ($r = 0.99$), GTEP &amp; TEY ($r = 0.98$) indicate strong collinearity in operating load.</a:t>
            </a:r>
            <a:br>
              <a:rPr dirty="0"/>
            </a:br>
            <a:r>
              <a:rPr dirty="0"/>
              <a:t>• Environmental Cooling Effect: Ambient Temp AT vs TEY ($r = -0.58$) due to reduced air density at higher temperatures.</a:t>
            </a:r>
            <a:br>
              <a:rPr dirty="0"/>
            </a:br>
            <a:r>
              <a:rPr dirty="0"/>
              <a:t>• </a:t>
            </a:r>
            <a:r>
              <a:rPr lang="it-IT" dirty="0"/>
              <a:t>MODIFICARE CO E NOX</a:t>
            </a:r>
            <a:endParaRPr dirty="0"/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UNSUPERVISED PCA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PCA as an Exploratory Technique (Slide 70)</a:t>
            </a:r>
          </a:p>
          <a:p>
            <a:br>
              <a:rPr dirty="0"/>
            </a:br>
            <a:r>
              <a:rPr dirty="0"/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Eigen-decomposition of Covariance Matrix $C </a:t>
            </a:r>
            <a:r>
              <a:rPr dirty="0" err="1"/>
              <a:t>v_i</a:t>
            </a:r>
            <a:r>
              <a:rPr dirty="0"/>
              <a:t> = \</a:t>
            </a:r>
            <a:r>
              <a:rPr dirty="0" err="1"/>
              <a:t>lambda_i</a:t>
            </a:r>
            <a:r>
              <a:rPr dirty="0"/>
              <a:t> </a:t>
            </a:r>
            <a:r>
              <a:rPr dirty="0" err="1"/>
              <a:t>v_i</a:t>
            </a:r>
            <a:r>
              <a:rPr dirty="0"/>
              <a:t>$.</a:t>
            </a:r>
            <a:br>
              <a:rPr dirty="0"/>
            </a:br>
            <a:r>
              <a:rPr dirty="0"/>
              <a:t>Proportion of Variance Explained: $\text{PVE}_</a:t>
            </a:r>
            <a:r>
              <a:rPr dirty="0" err="1"/>
              <a:t>i</a:t>
            </a:r>
            <a:r>
              <a:rPr dirty="0"/>
              <a:t> = \</a:t>
            </a:r>
            <a:r>
              <a:rPr dirty="0" err="1"/>
              <a:t>lambda_i</a:t>
            </a:r>
            <a:r>
              <a:rPr dirty="0"/>
              <a:t> / \sum \</a:t>
            </a:r>
            <a:r>
              <a:rPr dirty="0" err="1"/>
              <a:t>lambda_j</a:t>
            </a:r>
            <a:r>
              <a:rPr dirty="0"/>
              <a:t>$.</a:t>
            </a:r>
          </a:p>
          <a:p>
            <a:br>
              <a:rPr dirty="0"/>
            </a:br>
            <a:r>
              <a:rPr dirty="0"/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PC1 (48.28%): Captures general turbine thermodynamic load (high loadings for CDP, TEY, GTEP, TIT).</a:t>
            </a:r>
            <a:br>
              <a:rPr dirty="0"/>
            </a:br>
            <a:r>
              <a:rPr dirty="0"/>
              <a:t>• PC2 (20.48%): Captures ambient temperature (AT) and the inverse CO vs NOx combustion trade-off.</a:t>
            </a:r>
            <a:br>
              <a:rPr dirty="0"/>
            </a:br>
            <a:r>
              <a:rPr dirty="0"/>
              <a:t>• First 2 PCs capture 68.76% of total system variance.</a:t>
            </a:r>
            <a:br>
              <a:rPr dirty="0"/>
            </a:br>
            <a:r>
              <a:rPr dirty="0"/>
              <a:t>• First 5 PCs capture 92.02% (Scree plot elbow at $p=5$).</a:t>
            </a:r>
          </a:p>
          <a:p>
            <a:br>
              <a:rPr dirty="0"/>
            </a:br>
            <a:r>
              <a:rPr dirty="0"/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The 11 physical sensors effectively lie on a low-dimensional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E8DA4-359D-9149-0802-E1DE3F1C0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A5EA26-EB5A-E892-6B1A-F5B268D71490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rPr dirty="0"/>
              <a:t>PHASE 3: METHODOLOGICAL FRAMEWORK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4. Main Analysis: Objectives &amp; Methodological Framework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8699CF3-F6EB-D0F8-2D7A-707162BC726D}"/>
              </a:ext>
            </a:extLst>
          </p:cNvPr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8 sensor telemetry features.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4 feature PCs ($Z = X_{\text{std}} V_4$, 90.76% PVE) to eliminate variance inflation and ensure numerical stability.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CE8DD28-F92D-9798-FCF2-06C270AA01CF}"/>
              </a:ext>
            </a:extLst>
          </p:cNvPr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rPr dirty="0"/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Quantify pollutant generation as a function of firing state.</a:t>
            </a:r>
            <a:br>
              <a:rPr dirty="0"/>
            </a:br>
            <a:r>
              <a:rPr dirty="0"/>
              <a:t>• Method: Polynomial Regression (Slide 116 &amp; Ex 4.1) for CO to capture steep non-linear spikes during low-load/startup regimes ($x \to [x, x^2]$).</a:t>
            </a:r>
            <a:br>
              <a:rPr dirty="0"/>
            </a:br>
            <a:r>
              <a:rPr dirty="0"/>
              <a:t>• Multivariate OLS for NOx tracking thermal oxidation.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3660D8-39BD-5869-BE54-BCEF7B34FA43}"/>
              </a:ext>
            </a:extLst>
          </p:cNvPr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4F6713E-45BC-B159-1E64-2D59794BA24F}"/>
              </a:ext>
            </a:extLst>
          </p:cNvPr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106, computed via `np.linalg.lstsq` for numerical stability)</a:t>
            </a:r>
            <a:br/>
            <a:r>
              <a:t>• Principal Component Regression: $\hat{\beta}_{PCR} = (Z^T Z)^{-1} Z^T y$, where $Z = X_{\text{std}} V_4$ (4 PCs capturing 90.76% PVE)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60EF876-BA6F-5054-1E79-2CDFD2C78FC4}"/>
              </a:ext>
            </a:extLst>
          </p:cNvPr>
          <p:cNvSpPr txBox="1"/>
          <p:nvPr/>
        </p:nvSpPr>
        <p:spPr>
          <a:xfrm>
            <a:off x="722179" y="1557756"/>
            <a:ext cx="53585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 • TEY </a:t>
            </a:r>
            <a:r>
              <a:rPr lang="it-IT" sz="1200" dirty="0" err="1"/>
              <a:t>implies</a:t>
            </a:r>
            <a:r>
              <a:rPr lang="it-IT" sz="1200" dirty="0"/>
              <a:t> PCR (4 </a:t>
            </a:r>
            <a:r>
              <a:rPr lang="it-IT" sz="1200" dirty="0" err="1"/>
              <a:t>PCs</a:t>
            </a:r>
            <a:r>
              <a:rPr lang="it-IT" sz="1200" dirty="0"/>
              <a:t>, 90.8% PVE):</a:t>
            </a:r>
          </a:p>
          <a:p>
            <a:r>
              <a:rPr lang="it-IT" sz="1200" dirty="0"/>
              <a:t>      • </a:t>
            </a:r>
            <a:r>
              <a:rPr lang="it-IT" sz="1200" dirty="0" err="1"/>
              <a:t>Motivation</a:t>
            </a:r>
            <a:r>
              <a:rPr lang="it-IT" sz="1200" dirty="0"/>
              <a:t>: </a:t>
            </a:r>
            <a:r>
              <a:rPr lang="it-IT" sz="1200" dirty="0" err="1"/>
              <a:t>Resolves</a:t>
            </a:r>
            <a:r>
              <a:rPr lang="it-IT" sz="1200" dirty="0"/>
              <a:t> severe </a:t>
            </a:r>
            <a:r>
              <a:rPr lang="it-IT" sz="1200" dirty="0" err="1"/>
              <a:t>multicollinearity</a:t>
            </a:r>
            <a:r>
              <a:rPr lang="it-IT" sz="1200" dirty="0"/>
              <a:t> (VIF &gt; 250 for CDP, TIT, GTEP). </a:t>
            </a:r>
            <a:r>
              <a:rPr lang="it-IT" sz="1200" dirty="0" err="1"/>
              <a:t>Projecting</a:t>
            </a:r>
            <a:r>
              <a:rPr lang="it-IT" sz="1200" dirty="0"/>
              <a:t> 8 </a:t>
            </a:r>
            <a:r>
              <a:rPr lang="it-IT" sz="1200" dirty="0" err="1"/>
              <a:t>correlated</a:t>
            </a:r>
            <a:r>
              <a:rPr lang="it-IT" sz="1200" dirty="0"/>
              <a:t> features </a:t>
            </a:r>
            <a:r>
              <a:rPr lang="it-IT" sz="1200" dirty="0" err="1"/>
              <a:t>onto</a:t>
            </a:r>
            <a:r>
              <a:rPr lang="it-IT" sz="1200" dirty="0"/>
              <a:t> 4 </a:t>
            </a:r>
            <a:r>
              <a:rPr lang="it-IT" sz="1200" dirty="0" err="1"/>
              <a:t>orthogonal</a:t>
            </a:r>
            <a:r>
              <a:rPr lang="it-IT" sz="1200" dirty="0"/>
              <a:t> </a:t>
            </a:r>
            <a:r>
              <a:rPr lang="it-IT" sz="1200" dirty="0" err="1"/>
              <a:t>components</a:t>
            </a:r>
            <a:endParaRPr lang="it-IT" sz="1200" dirty="0"/>
          </a:p>
          <a:p>
            <a:r>
              <a:rPr lang="it-IT" sz="1200" dirty="0"/>
              <a:t>      </a:t>
            </a:r>
            <a:r>
              <a:rPr lang="it-IT" sz="1200" dirty="0" err="1"/>
              <a:t>eliminates</a:t>
            </a:r>
            <a:r>
              <a:rPr lang="it-IT" sz="1200" dirty="0"/>
              <a:t> </a:t>
            </a:r>
            <a:r>
              <a:rPr lang="it-IT" sz="1200" dirty="0" err="1"/>
              <a:t>coefficient</a:t>
            </a:r>
            <a:r>
              <a:rPr lang="it-IT" sz="1200" dirty="0"/>
              <a:t> </a:t>
            </a:r>
            <a:r>
              <a:rPr lang="it-IT" sz="1200" dirty="0" err="1"/>
              <a:t>variance</a:t>
            </a:r>
            <a:r>
              <a:rPr lang="it-IT" sz="1200" dirty="0"/>
              <a:t> </a:t>
            </a:r>
            <a:r>
              <a:rPr lang="it-IT" sz="1200" dirty="0" err="1"/>
              <a:t>inflation</a:t>
            </a:r>
            <a:r>
              <a:rPr lang="it-IT" sz="1200" dirty="0"/>
              <a:t> and </a:t>
            </a:r>
            <a:r>
              <a:rPr lang="it-IT" sz="1200" dirty="0" err="1"/>
              <a:t>guarantees</a:t>
            </a:r>
            <a:r>
              <a:rPr lang="it-IT" sz="1200" dirty="0"/>
              <a:t> </a:t>
            </a:r>
            <a:r>
              <a:rPr lang="it-IT" sz="1200" dirty="0" err="1"/>
              <a:t>numerical</a:t>
            </a:r>
            <a:r>
              <a:rPr lang="it-IT" sz="1200" dirty="0"/>
              <a:t> </a:t>
            </a:r>
            <a:r>
              <a:rPr lang="it-IT" sz="1200" dirty="0" err="1"/>
              <a:t>stability</a:t>
            </a:r>
            <a:r>
              <a:rPr lang="it-IT" sz="1200" dirty="0"/>
              <a:t>.</a:t>
            </a:r>
          </a:p>
          <a:p>
            <a:r>
              <a:rPr lang="it-IT" sz="1200" dirty="0"/>
              <a:t>  • CO </a:t>
            </a:r>
            <a:r>
              <a:rPr lang="it-IT" sz="1200" dirty="0" err="1"/>
              <a:t>implies</a:t>
            </a:r>
            <a:r>
              <a:rPr lang="it-IT" sz="1200" dirty="0"/>
              <a:t> Degree-2 </a:t>
            </a:r>
            <a:r>
              <a:rPr lang="it-IT" sz="1200" dirty="0" err="1"/>
              <a:t>Polynomial</a:t>
            </a:r>
            <a:r>
              <a:rPr lang="it-IT" sz="1200" dirty="0"/>
              <a:t> </a:t>
            </a:r>
            <a:r>
              <a:rPr lang="it-IT" sz="1200" dirty="0" err="1"/>
              <a:t>Regression</a:t>
            </a:r>
            <a:r>
              <a:rPr lang="it-IT" sz="1200" dirty="0"/>
              <a:t> (x → [x,x²]):</a:t>
            </a:r>
          </a:p>
          <a:p>
            <a:r>
              <a:rPr lang="it-IT" sz="1200" dirty="0"/>
              <a:t>      • </a:t>
            </a:r>
            <a:r>
              <a:rPr lang="it-IT" sz="1200" dirty="0" err="1"/>
              <a:t>Motivation</a:t>
            </a:r>
            <a:r>
              <a:rPr lang="it-IT" sz="1200" dirty="0"/>
              <a:t>: </a:t>
            </a:r>
            <a:r>
              <a:rPr lang="it-IT" sz="1200" dirty="0" err="1"/>
              <a:t>Captures</a:t>
            </a:r>
            <a:r>
              <a:rPr lang="it-IT" sz="1200" dirty="0"/>
              <a:t> the non-linear, </a:t>
            </a:r>
            <a:r>
              <a:rPr lang="it-IT" sz="1200" dirty="0" err="1"/>
              <a:t>exponential</a:t>
            </a:r>
            <a:r>
              <a:rPr lang="it-IT" sz="1200" dirty="0"/>
              <a:t> </a:t>
            </a:r>
            <a:r>
              <a:rPr lang="it-IT" sz="1200" dirty="0" err="1"/>
              <a:t>emission</a:t>
            </a:r>
            <a:r>
              <a:rPr lang="it-IT" sz="1200" dirty="0"/>
              <a:t> surge </a:t>
            </a:r>
            <a:r>
              <a:rPr lang="it-IT" sz="1200" dirty="0" err="1"/>
              <a:t>during</a:t>
            </a:r>
            <a:r>
              <a:rPr lang="it-IT" sz="1200" dirty="0"/>
              <a:t> low-load/startup </a:t>
            </a:r>
            <a:r>
              <a:rPr lang="it-IT" sz="1200" dirty="0" err="1"/>
              <a:t>firing</a:t>
            </a:r>
            <a:r>
              <a:rPr lang="it-IT" sz="1200" dirty="0"/>
              <a:t> (</a:t>
            </a:r>
          </a:p>
          <a:p>
            <a:endParaRPr lang="it-IT" sz="1200" dirty="0"/>
          </a:p>
          <a:p>
            <a:endParaRPr lang="it-IT" sz="1200" dirty="0"/>
          </a:p>
          <a:p>
            <a:r>
              <a:rPr lang="it-IT" sz="1200" dirty="0"/>
              <a:t>         ∘</a:t>
            </a:r>
          </a:p>
          <a:p>
            <a:r>
              <a:rPr lang="it-IT" sz="1200" dirty="0"/>
              <a:t>    &lt;1070  C</a:t>
            </a:r>
          </a:p>
          <a:p>
            <a:endParaRPr lang="it-IT" sz="1200" dirty="0"/>
          </a:p>
          <a:p>
            <a:r>
              <a:rPr lang="it-IT" sz="1200" dirty="0"/>
              <a:t>  ) </a:t>
            </a:r>
            <a:r>
              <a:rPr lang="it-IT" sz="1200" dirty="0" err="1"/>
              <a:t>while</a:t>
            </a:r>
            <a:r>
              <a:rPr lang="it-IT" sz="1200" dirty="0"/>
              <a:t> </a:t>
            </a:r>
            <a:r>
              <a:rPr lang="it-IT" sz="1200" dirty="0" err="1"/>
              <a:t>maintaining</a:t>
            </a:r>
            <a:r>
              <a:rPr lang="it-IT" sz="1200" dirty="0"/>
              <a:t> a </a:t>
            </a:r>
            <a:r>
              <a:rPr lang="it-IT" sz="1200" dirty="0" err="1"/>
              <a:t>closed</a:t>
            </a:r>
            <a:r>
              <a:rPr lang="it-IT" sz="1200" dirty="0"/>
              <a:t>-form, </a:t>
            </a:r>
            <a:r>
              <a:rPr lang="it-IT" sz="1200" dirty="0" err="1"/>
              <a:t>interpretable</a:t>
            </a:r>
            <a:r>
              <a:rPr lang="it-IT" sz="1200" dirty="0"/>
              <a:t> linear </a:t>
            </a:r>
            <a:r>
              <a:rPr lang="it-IT" sz="1200" dirty="0" err="1"/>
              <a:t>optimization</a:t>
            </a:r>
            <a:r>
              <a:rPr lang="it-IT" sz="1200" dirty="0"/>
              <a:t>.</a:t>
            </a:r>
          </a:p>
          <a:p>
            <a:endParaRPr lang="it-IT" sz="1200" dirty="0"/>
          </a:p>
          <a:p>
            <a:r>
              <a:rPr lang="it-IT" sz="1200" dirty="0"/>
              <a:t>  • NOₓ </a:t>
            </a:r>
            <a:r>
              <a:rPr lang="it-IT" sz="1200" dirty="0" err="1"/>
              <a:t>implies</a:t>
            </a:r>
            <a:r>
              <a:rPr lang="it-IT" sz="1200" dirty="0"/>
              <a:t> Multivariate Linear OLS:</a:t>
            </a:r>
          </a:p>
          <a:p>
            <a:r>
              <a:rPr lang="it-IT" sz="1200" dirty="0"/>
              <a:t>      • </a:t>
            </a:r>
            <a:r>
              <a:rPr lang="it-IT" sz="1200" dirty="0" err="1"/>
              <a:t>Motivation</a:t>
            </a:r>
            <a:r>
              <a:rPr lang="it-IT" sz="1200" dirty="0"/>
              <a:t>: </a:t>
            </a:r>
            <a:r>
              <a:rPr lang="it-IT" sz="1200" dirty="0" err="1"/>
              <a:t>Captures</a:t>
            </a:r>
            <a:r>
              <a:rPr lang="it-IT" sz="1200" dirty="0"/>
              <a:t> </a:t>
            </a:r>
            <a:r>
              <a:rPr lang="it-IT" sz="1200" dirty="0" err="1"/>
              <a:t>monotonic</a:t>
            </a:r>
            <a:r>
              <a:rPr lang="it-IT" sz="1200" dirty="0"/>
              <a:t> </a:t>
            </a:r>
            <a:r>
              <a:rPr lang="it-IT" sz="1200" dirty="0" err="1"/>
              <a:t>atmospheric</a:t>
            </a:r>
            <a:r>
              <a:rPr lang="it-IT" sz="1200" dirty="0"/>
              <a:t> </a:t>
            </a:r>
            <a:r>
              <a:rPr lang="it-IT" sz="1200" dirty="0" err="1"/>
              <a:t>dependencies</a:t>
            </a:r>
            <a:r>
              <a:rPr lang="it-IT" sz="1200" dirty="0"/>
              <a:t> (AT,AH) </a:t>
            </a:r>
            <a:r>
              <a:rPr lang="it-IT" sz="1200" dirty="0" err="1"/>
              <a:t>without</a:t>
            </a:r>
            <a:r>
              <a:rPr lang="it-IT" sz="1200" dirty="0"/>
              <a:t> </a:t>
            </a:r>
            <a:r>
              <a:rPr lang="it-IT" sz="1200" dirty="0" err="1"/>
              <a:t>overfitting</a:t>
            </a:r>
            <a:r>
              <a:rPr lang="it-IT" sz="1200" dirty="0"/>
              <a:t>, </a:t>
            </a:r>
            <a:r>
              <a:rPr lang="it-IT" sz="1200" dirty="0" err="1"/>
              <a:t>providing</a:t>
            </a:r>
            <a:r>
              <a:rPr lang="it-IT" sz="1200" dirty="0"/>
              <a:t> a </a:t>
            </a:r>
            <a:r>
              <a:rPr lang="it-IT" sz="1200" dirty="0" err="1"/>
              <a:t>clean</a:t>
            </a:r>
            <a:r>
              <a:rPr lang="it-IT" sz="1200" dirty="0"/>
              <a:t> baseline to </a:t>
            </a:r>
            <a:r>
              <a:rPr lang="it-IT" sz="1200" dirty="0" err="1"/>
              <a:t>detect</a:t>
            </a:r>
            <a:r>
              <a:rPr lang="it-IT" sz="1200" dirty="0"/>
              <a:t> </a:t>
            </a:r>
            <a:r>
              <a:rPr lang="it-IT" sz="1200" dirty="0" err="1"/>
              <a:t>plant</a:t>
            </a:r>
            <a:r>
              <a:rPr lang="it-IT" sz="1200" dirty="0"/>
              <a:t> </a:t>
            </a:r>
            <a:r>
              <a:rPr lang="it-IT" sz="1200" dirty="0" err="1"/>
              <a:t>maintenance</a:t>
            </a:r>
            <a:r>
              <a:rPr lang="it-IT" sz="1200" dirty="0"/>
              <a:t> domain</a:t>
            </a:r>
          </a:p>
          <a:p>
            <a:r>
              <a:rPr lang="it-IT" sz="1200" dirty="0"/>
              <a:t>      shifts.</a:t>
            </a:r>
          </a:p>
          <a:p>
            <a:r>
              <a:rPr lang="it-IT" sz="1200" dirty="0"/>
              <a:t>  • </a:t>
            </a:r>
            <a:r>
              <a:rPr lang="it-IT" sz="1200" dirty="0" err="1"/>
              <a:t>Operational</a:t>
            </a:r>
            <a:r>
              <a:rPr lang="it-IT" sz="1200" dirty="0"/>
              <a:t> </a:t>
            </a:r>
            <a:r>
              <a:rPr lang="it-IT" sz="1200" dirty="0" err="1"/>
              <a:t>Regimes</a:t>
            </a:r>
            <a:r>
              <a:rPr lang="it-IT" sz="1200" dirty="0"/>
              <a:t> </a:t>
            </a:r>
            <a:r>
              <a:rPr lang="it-IT" sz="1200" dirty="0" err="1"/>
              <a:t>implies</a:t>
            </a:r>
            <a:r>
              <a:rPr lang="it-IT" sz="1200" dirty="0"/>
              <a:t> K-Means Clustering (K = 3):</a:t>
            </a:r>
          </a:p>
          <a:p>
            <a:r>
              <a:rPr lang="it-IT" sz="1200" dirty="0"/>
              <a:t>      • </a:t>
            </a:r>
            <a:r>
              <a:rPr lang="it-IT" sz="1200" dirty="0" err="1"/>
              <a:t>Motivation</a:t>
            </a:r>
            <a:r>
              <a:rPr lang="it-IT" sz="1200" dirty="0"/>
              <a:t>: </a:t>
            </a:r>
            <a:r>
              <a:rPr lang="it-IT" sz="1200" dirty="0" err="1"/>
              <a:t>Unsupervised</a:t>
            </a:r>
            <a:r>
              <a:rPr lang="it-IT" sz="1200" dirty="0"/>
              <a:t> </a:t>
            </a:r>
            <a:r>
              <a:rPr lang="it-IT" sz="1200" dirty="0" err="1"/>
              <a:t>partitioning</a:t>
            </a:r>
            <a:r>
              <a:rPr lang="it-IT" sz="1200" dirty="0"/>
              <a:t> of </a:t>
            </a:r>
            <a:r>
              <a:rPr lang="it-IT" sz="1200" dirty="0" err="1"/>
              <a:t>continuous</a:t>
            </a:r>
            <a:r>
              <a:rPr lang="it-IT" sz="1200" dirty="0"/>
              <a:t> </a:t>
            </a:r>
            <a:r>
              <a:rPr lang="it-IT" sz="1200" dirty="0" err="1"/>
              <a:t>telemetry</a:t>
            </a:r>
            <a:r>
              <a:rPr lang="it-IT" sz="1200" dirty="0"/>
              <a:t> </a:t>
            </a:r>
            <a:r>
              <a:rPr lang="it-IT" sz="1200" dirty="0" err="1"/>
              <a:t>into</a:t>
            </a:r>
            <a:r>
              <a:rPr lang="it-IT" sz="1200" dirty="0"/>
              <a:t> 3 </a:t>
            </a:r>
            <a:r>
              <a:rPr lang="it-IT" sz="1200" dirty="0" err="1"/>
              <a:t>canonical</a:t>
            </a:r>
            <a:r>
              <a:rPr lang="it-IT" sz="1200" dirty="0"/>
              <a:t> </a:t>
            </a:r>
            <a:r>
              <a:rPr lang="it-IT" sz="1200" dirty="0" err="1"/>
              <a:t>dispatch</a:t>
            </a:r>
            <a:r>
              <a:rPr lang="it-IT" sz="1200" dirty="0"/>
              <a:t> </a:t>
            </a:r>
            <a:r>
              <a:rPr lang="it-IT" sz="1200" dirty="0" err="1"/>
              <a:t>states</a:t>
            </a:r>
            <a:r>
              <a:rPr lang="it-IT" sz="1200" dirty="0"/>
              <a:t> (Peak Load, </a:t>
            </a:r>
            <a:r>
              <a:rPr lang="it-IT" sz="1200" dirty="0" err="1"/>
              <a:t>Baseload</a:t>
            </a:r>
            <a:r>
              <a:rPr lang="it-IT" sz="1200" dirty="0"/>
              <a:t>, Part-Load) to isolate the 3.3</a:t>
            </a:r>
          </a:p>
          <a:p>
            <a:r>
              <a:rPr lang="it-IT" sz="1200" dirty="0"/>
              <a:t>      × CO surge.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5A3A363-704F-84FE-E9AB-BC7C58930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3617" y="2377440"/>
            <a:ext cx="5570703" cy="264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30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RESULTS SYNTHESIS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Preview &amp; High-Level Summary of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2514600" cy="1463040"/>
          </a:xfrm>
          <a:prstGeom prst="roundRect">
            <a:avLst/>
          </a:prstGeom>
          <a:solidFill>
            <a:srgbClr val="EBF7EE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rPr dirty="0"/>
              <a:t>0.9501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rPr dirty="0"/>
              <a:t>Best TEY Test R² (OLS)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rPr dirty="0"/>
              <a:t>Full 8-feature multivariate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280160"/>
            <a:ext cx="2514600" cy="1463040"/>
          </a:xfrm>
          <a:prstGeom prst="roundRect">
            <a:avLst/>
          </a:prstGeom>
          <a:solidFill>
            <a:srgbClr val="EBF7EE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t>0.9397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TEY PCR Test R² (4 PCs)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Collinearity-free (90.76% PVE)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0.6477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CO Train R² (Poly Deg. 2)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Captures non-linear low-load curve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3 Regimes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Operational Clusters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Peak, Baseload &amp; Part-Load (K-Means)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92608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Target Variable &amp; Model Specification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R² (2011–13)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Train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R² (2014–15)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TEY: Full Multivariate OLS (8 Features)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0.9977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0.76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0.9501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3.35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TEY: PCR (4 Principal Components, 90.76% PVE)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0.9693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2.81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0.9397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3.68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16.03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14.98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Polynomial (Degree 2, Slide 116)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0.6477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1.36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0.2635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1.88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2.30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-0.0333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2.23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NOx: Multivariate OLS (8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8.16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-1.0928*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15.30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11.04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-0.6914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13.76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rPr dirty="0"/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6. Detailed Results: Energy Yield (TEY) &amp; PCR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TEY Model Diagnostics &amp; Multicollinearity</a:t>
            </a:r>
          </a:p>
          <a:p>
            <a:br>
              <a:rPr dirty="0"/>
            </a:br>
            <a:r>
              <a:rPr dirty="0"/>
              <a:t>Multicollinearity Diagnostics (Slide 115):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Extreme VIF scores diagnosed in operating telemetry: CDP (342.82), TIT (262.12), GTEP (260.47), TAT (133.21).</a:t>
            </a:r>
            <a:br>
              <a:rPr dirty="0"/>
            </a:br>
            <a:r>
              <a:rPr dirty="0"/>
              <a:t>• Predictor covariance eigen-decomposition reveals 4 PCs capture 90.76% of total feature variance.</a:t>
            </a:r>
          </a:p>
          <a:p>
            <a:br>
              <a:rPr dirty="0"/>
            </a:br>
            <a:r>
              <a:rPr dirty="0"/>
              <a:t>OLS vs. PCR Tradeoff (Slides 70, 106):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Full OLS: Highest raw test accuracy (Test R² = 0.9501, RMSE = 3.35 MWh), but predictor weights suffer from severe collinear instability.</a:t>
            </a:r>
            <a:br>
              <a:rPr dirty="0"/>
            </a:br>
            <a:r>
              <a:rPr dirty="0"/>
              <a:t>• PCR (4 PCs): Achieves Test R² = 0.9397 (RMSE = 3.68 MWh) while projecting onto strictly orthogonal coordinates, guaranteeing stable physical interpretation.</a:t>
            </a:r>
          </a:p>
          <a:p>
            <a:br>
              <a:rPr dirty="0"/>
            </a:br>
            <a:r>
              <a:rPr dirty="0"/>
              <a:t>Residual Analysis (Slides 104, 108):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rPr dirty="0"/>
              <a:t>• Residuals $</a:t>
            </a:r>
            <a:r>
              <a:rPr dirty="0" err="1"/>
              <a:t>e_i</a:t>
            </a:r>
            <a:r>
              <a:rPr dirty="0"/>
              <a:t> = </a:t>
            </a:r>
            <a:r>
              <a:rPr dirty="0" err="1"/>
              <a:t>y_i</a:t>
            </a:r>
            <a:r>
              <a:rPr dirty="0"/>
              <a:t> - \hat{y}_</a:t>
            </a:r>
            <a:r>
              <a:rPr dirty="0" err="1"/>
              <a:t>i</a:t>
            </a:r>
            <a:r>
              <a:rPr dirty="0"/>
              <a:t>$ are zero-centered with symmetric Gaussian distribution and homoscedastic variance across the full 100–180 MWh generator span.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rPr dirty="0"/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6. Detailed Results: Emissions Modeling &amp; Operational Regimes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Emissions Modeling &amp; K-Means Clusters</a:t>
            </a:r>
          </a:p>
          <a:p>
            <a:br>
              <a:rPr dirty="0"/>
            </a:br>
            <a:r>
              <a:rPr dirty="0"/>
              <a:t>CO Polynomial Enhancement (Slide 116):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rPr dirty="0"/>
              <a:t>• Adding quadratic feature terms ($x \to [x, x^2]$) increases Train R² to 0.6477 (RMSE = 1.36 mg/m³).</a:t>
            </a:r>
            <a:br>
              <a:rPr dirty="0"/>
            </a:br>
            <a:r>
              <a:rPr dirty="0"/>
              <a:t>• Captures the non-linear inflection below 1070°C where incomplete combustion surges exponentially.</a:t>
            </a:r>
          </a:p>
          <a:p>
            <a:br>
              <a:rPr dirty="0"/>
            </a:br>
            <a:r>
              <a:rPr dirty="0"/>
              <a:t>NOx Domain Shift Analysis (*):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rPr dirty="0"/>
              <a:t>• Negative out-of-sample Test R² (-1.0928) reflects a plant hardware/burner recalibration in 2014–15 (baseline NOx dropped from 68.8 to 58.5 mg/m³).</a:t>
            </a:r>
          </a:p>
          <a:p>
            <a:br>
              <a:rPr dirty="0"/>
            </a:br>
            <a:r>
              <a:rPr dirty="0"/>
              <a:t>Operational Regimes Profile (K=3, Silhouette = 0.3023):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rPr dirty="0"/>
              <a:t>• Peak Load (4,309 </a:t>
            </a:r>
            <a:r>
              <a:rPr dirty="0" err="1"/>
              <a:t>hrs</a:t>
            </a:r>
            <a:r>
              <a:rPr dirty="0"/>
              <a:t>): TEY = 158.2 MWh, TIT = 1100°C, CDP = 13.8 mbar $\implies$ CO = 1.00 mg/m³.</a:t>
            </a:r>
            <a:br>
              <a:rPr dirty="0"/>
            </a:br>
            <a:r>
              <a:rPr dirty="0"/>
              <a:t>• Nominal Load (7,820 </a:t>
            </a:r>
            <a:r>
              <a:rPr dirty="0" err="1"/>
              <a:t>hrs</a:t>
            </a:r>
            <a:r>
              <a:rPr dirty="0"/>
              <a:t>): TEY = 134.5 MWh, TIT = 1091°C, CDP = 12.2 mbar $\implies$ CO = 1.48 mg/m³.</a:t>
            </a:r>
            <a:br>
              <a:rPr dirty="0"/>
            </a:br>
            <a:r>
              <a:rPr dirty="0"/>
              <a:t>• Part Load (10,062 </a:t>
            </a:r>
            <a:r>
              <a:rPr dirty="0" err="1"/>
              <a:t>hrs</a:t>
            </a:r>
            <a:r>
              <a:rPr dirty="0"/>
              <a:t>): TEY = 122.3 MWh, TIT = 1070°C, CDP = 11.2 mbar $\implies$ CO = 3.30 mg/m³ (3.3x higher!).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5: STRATEGIC INSIGHTS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Conclusions &amp; Engineering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1. Methodological Justifications</a:t>
            </a:r>
          </a:p>
          <a:p>
            <a:br>
              <a:rPr dirty="0"/>
            </a:br>
            <a:r>
              <a:rPr dirty="0"/>
              <a:t>• Multicollinearity: VIF &gt; 250 proved that raw sensor telemetry is collinear. PCR on 4 orthogonal components captured 90.76% of variance, ensuring parameter stability.</a:t>
            </a:r>
            <a:br>
              <a:rPr dirty="0"/>
            </a:br>
            <a:r>
              <a:rPr dirty="0"/>
              <a:t>• Non-linear Physics: CO follows non-linear thermal oxidation kinetics; degree-2 polynomial expansion resolved the inflection point.</a:t>
            </a:r>
            <a:br>
              <a:rPr dirty="0"/>
            </a:br>
            <a:r>
              <a:rPr dirty="0"/>
              <a:t>• Unsupervised Regimes: K-Means (K=3) partitioned turbine operations into distinct thermodynamic states.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Operational Emission Control</a:t>
            </a:r>
          </a:p>
          <a:p>
            <a:br/>
            <a:r>
              <a:t>• Avoid Low Firing Regimes: Part-load operation below 1070°C firing produces 3.3x higher CO emissions.</a:t>
            </a:r>
            <a:br/>
            <a:r>
              <a:t>• Peak Load Cleanliness: Operating at peak load (TIT ~1100°C) maximizes power yield (158.2 MWh) and minimizes CO (1.0 mg/m³).</a:t>
            </a:r>
            <a:br/>
            <a:r>
              <a:t>• Ambient Weather Compensation: Ambient temperature penalizes turbine yield (-0.58 correlation), justifying inlet air chilling systems during summer.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rPr dirty="0"/>
              <a:t>3. Digital Twin &amp; Deployment</a:t>
            </a:r>
          </a:p>
          <a:p>
            <a:br>
              <a:rPr dirty="0"/>
            </a:br>
            <a:r>
              <a:rPr dirty="0"/>
              <a:t>• Real-Time Monitoring: The lightweight 4-component PCR model can run in real-time on edge turbine PLCs for anomaly detection.</a:t>
            </a:r>
            <a:br>
              <a:rPr dirty="0"/>
            </a:br>
            <a:r>
              <a:rPr dirty="0"/>
              <a:t>• Sensor Redundancy: High collinearity allows synthetic sensor estimation if a pressure transducer fails in operation.</a:t>
            </a:r>
            <a:br>
              <a:rPr dirty="0"/>
            </a:br>
            <a:r>
              <a:rPr dirty="0"/>
              <a:t>• Regulatory Compliance: Predictive emission models enable preemptive flue gas compliance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Questions &amp; Technical Discussion</a:t>
            </a:r>
            <a:br/>
            <a:endParaRPr/>
          </a:p>
          <a:p>
            <a:pPr>
              <a:defRPr sz="1300">
                <a:solidFill>
                  <a:srgbClr val="D2E1F0"/>
                </a:solidFill>
              </a:defRPr>
            </a:pPr>
            <a:r>
              <a:t>• Supplementary Material: Full Python Jupyter Notebook (gas_turbine_analysis.ipynb)</a:t>
            </a:r>
            <a:br/>
            <a:r>
              <a:t>• Dataset: 36,733 hourly records across 2011–2015 (Turkey Gas Turbine)</a:t>
            </a:r>
            <a:br/>
            <a:r>
              <a:t>• All methods strictly conform to the Data Analytics course syllabus.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2602</Words>
  <Application>Microsoft Office PowerPoint</Application>
  <PresentationFormat>Widescreen</PresentationFormat>
  <Paragraphs>266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Guido Maria Di Fiore</cp:lastModifiedBy>
  <cp:revision>4</cp:revision>
  <dcterms:created xsi:type="dcterms:W3CDTF">2013-01-27T09:14:16Z</dcterms:created>
  <dcterms:modified xsi:type="dcterms:W3CDTF">2026-09-01T16:20:43Z</dcterms:modified>
  <cp:category/>
</cp:coreProperties>
</file>